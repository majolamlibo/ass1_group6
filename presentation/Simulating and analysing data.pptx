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315" r:id="rId6"/>
    <p:sldId id="317" r:id="rId7"/>
    <p:sldId id="316" r:id="rId8"/>
    <p:sldId id="304" r:id="rId9"/>
    <p:sldId id="318" r:id="rId10"/>
    <p:sldId id="306" r:id="rId11"/>
    <p:sldId id="307" r:id="rId12"/>
    <p:sldId id="308" r:id="rId13"/>
    <p:sldId id="309" r:id="rId14"/>
    <p:sldId id="310" r:id="rId15"/>
    <p:sldId id="311" r:id="rId16"/>
    <p:sldId id="312" r:id="rId17"/>
    <p:sldId id="31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3/5/2026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3/5/2026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3/5/2026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3/5/2026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3/5/2026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3/5/2026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3/5/2026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3/5/2026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3/5/2026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3/5/2026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3273" y="-19544"/>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fontScale="90000"/>
          </a:bodyPr>
          <a:lstStyle/>
          <a:p>
            <a:r>
              <a:rPr lang="en-US" sz="4400" dirty="0">
                <a:solidFill>
                  <a:schemeClr val="tx1"/>
                </a:solidFill>
              </a:rPr>
              <a:t>Group 6: Simulating and </a:t>
            </a:r>
            <a:r>
              <a:rPr lang="en-US" sz="4400" dirty="0" err="1">
                <a:solidFill>
                  <a:schemeClr val="tx1"/>
                </a:solidFill>
              </a:rPr>
              <a:t>analysing</a:t>
            </a:r>
            <a:r>
              <a:rPr lang="en-US" sz="4400" dirty="0">
                <a:solidFill>
                  <a:schemeClr val="tx1"/>
                </a:solidFill>
              </a:rPr>
              <a:t> data</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sz="1600" dirty="0"/>
              <a:t>STSM3734 Assignment 1</a:t>
            </a:r>
          </a:p>
          <a:p>
            <a:pPr>
              <a:lnSpc>
                <a:spcPct val="100000"/>
              </a:lnSpc>
            </a:pPr>
            <a:r>
              <a:rPr lang="en-US" sz="1600" dirty="0"/>
              <a:t>2026</a:t>
            </a:r>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5" name="TextBox 4">
            <a:extLst>
              <a:ext uri="{FF2B5EF4-FFF2-40B4-BE49-F238E27FC236}">
                <a16:creationId xmlns:a16="http://schemas.microsoft.com/office/drawing/2014/main" id="{B539636A-9115-D2DE-7578-886F84B130F5}"/>
              </a:ext>
            </a:extLst>
          </p:cNvPr>
          <p:cNvSpPr txBox="1"/>
          <p:nvPr/>
        </p:nvSpPr>
        <p:spPr>
          <a:xfrm>
            <a:off x="263483" y="19544"/>
            <a:ext cx="7859933" cy="1200329"/>
          </a:xfrm>
          <a:prstGeom prst="rect">
            <a:avLst/>
          </a:prstGeom>
          <a:noFill/>
        </p:spPr>
        <p:txBody>
          <a:bodyPr wrap="square" rtlCol="0">
            <a:spAutoFit/>
          </a:bodyPr>
          <a:lstStyle/>
          <a:p>
            <a:r>
              <a:rPr lang="en-ZA" b="1" dirty="0">
                <a:solidFill>
                  <a:schemeClr val="bg1"/>
                </a:solidFill>
              </a:rPr>
              <a:t>2023118959 Mashawana Mpho</a:t>
            </a:r>
          </a:p>
          <a:p>
            <a:r>
              <a:rPr lang="en-ZA" b="1" dirty="0">
                <a:solidFill>
                  <a:schemeClr val="bg1"/>
                </a:solidFill>
              </a:rPr>
              <a:t>2021229915 Mthethwa Bheki</a:t>
            </a:r>
          </a:p>
          <a:p>
            <a:r>
              <a:rPr lang="en-ZA" b="1" dirty="0">
                <a:solidFill>
                  <a:schemeClr val="bg1"/>
                </a:solidFill>
              </a:rPr>
              <a:t>2026206108 Majola Mlibo</a:t>
            </a:r>
          </a:p>
          <a:p>
            <a:r>
              <a:rPr lang="en-ZA" b="1" dirty="0">
                <a:solidFill>
                  <a:schemeClr val="bg1"/>
                </a:solidFill>
              </a:rPr>
              <a:t>2025281227 Maluleke Collins</a:t>
            </a:r>
          </a:p>
        </p:txBody>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6E539-2A1F-DE75-7F4B-B21177B3FF98}"/>
              </a:ext>
            </a:extLst>
          </p:cNvPr>
          <p:cNvSpPr>
            <a:spLocks noGrp="1"/>
          </p:cNvSpPr>
          <p:nvPr>
            <p:ph type="title"/>
          </p:nvPr>
        </p:nvSpPr>
        <p:spPr>
          <a:xfrm>
            <a:off x="643464" y="375370"/>
            <a:ext cx="3517567" cy="2093975"/>
          </a:xfrm>
        </p:spPr>
        <p:txBody>
          <a:bodyPr anchor="b">
            <a:normAutofit/>
          </a:bodyPr>
          <a:lstStyle/>
          <a:p>
            <a:r>
              <a:rPr lang="en-GB" dirty="0"/>
              <a:t>Dataset, response variable &amp; naïve model</a:t>
            </a:r>
            <a:endParaRPr lang="en-ZA" dirty="0"/>
          </a:p>
        </p:txBody>
      </p:sp>
      <p:pic>
        <p:nvPicPr>
          <p:cNvPr id="6" name="Content Placeholder 5">
            <a:extLst>
              <a:ext uri="{FF2B5EF4-FFF2-40B4-BE49-F238E27FC236}">
                <a16:creationId xmlns:a16="http://schemas.microsoft.com/office/drawing/2014/main" id="{5D919B48-E182-6D76-E7B3-09A075B8B1D2}"/>
              </a:ext>
            </a:extLst>
          </p:cNvPr>
          <p:cNvPicPr>
            <a:picLocks noGrp="1" noChangeAspect="1"/>
          </p:cNvPicPr>
          <p:nvPr>
            <p:ph idx="1"/>
          </p:nvPr>
        </p:nvPicPr>
        <p:blipFill>
          <a:blip r:embed="rId2"/>
          <a:stretch>
            <a:fillRect/>
          </a:stretch>
        </p:blipFill>
        <p:spPr>
          <a:xfrm>
            <a:off x="4817546" y="375370"/>
            <a:ext cx="5330027" cy="3924000"/>
          </a:xfrm>
          <a:prstGeom prst="rect">
            <a:avLst/>
          </a:prstGeom>
          <a:noFill/>
        </p:spPr>
      </p:pic>
      <p:sp>
        <p:nvSpPr>
          <p:cNvPr id="15" name="Text Placeholder 3">
            <a:extLst>
              <a:ext uri="{FF2B5EF4-FFF2-40B4-BE49-F238E27FC236}">
                <a16:creationId xmlns:a16="http://schemas.microsoft.com/office/drawing/2014/main" id="{E42AC127-C48C-8BCB-E25B-E2A2024918B7}"/>
              </a:ext>
            </a:extLst>
          </p:cNvPr>
          <p:cNvSpPr>
            <a:spLocks noGrp="1"/>
          </p:cNvSpPr>
          <p:nvPr>
            <p:ph type="body" sz="half" idx="2"/>
          </p:nvPr>
        </p:nvSpPr>
        <p:spPr>
          <a:xfrm>
            <a:off x="643465" y="2632842"/>
            <a:ext cx="3517567" cy="3474714"/>
          </a:xfrm>
        </p:spPr>
        <p:txBody>
          <a:bodyPr>
            <a:normAutofit fontScale="70000" lnSpcReduction="20000"/>
          </a:bodyPr>
          <a:lstStyle/>
          <a:p>
            <a:pPr>
              <a:buFont typeface="Arial" panose="020B0604020202020204" pitchFamily="34" charset="0"/>
              <a:buChar char="•"/>
            </a:pPr>
            <a:r>
              <a:rPr lang="en-GB" dirty="0"/>
              <a:t>Dataset – we are assessing group 5’s observational data of sample size 500 on air quality index(AQI) with predictors : </a:t>
            </a:r>
          </a:p>
          <a:p>
            <a:pPr marL="285750" indent="-285750">
              <a:buFont typeface="Wingdings" panose="05000000000000000000" pitchFamily="2" charset="2"/>
              <a:buChar char="Ø"/>
            </a:pPr>
            <a:r>
              <a:rPr lang="en-GB" dirty="0">
                <a:solidFill>
                  <a:schemeClr val="bg1"/>
                </a:solidFill>
              </a:rPr>
              <a:t>Traffic  (continuous variable)</a:t>
            </a:r>
          </a:p>
          <a:p>
            <a:pPr marL="285750" indent="-285750">
              <a:buFont typeface="Wingdings" panose="05000000000000000000" pitchFamily="2" charset="2"/>
              <a:buChar char="Ø"/>
            </a:pPr>
            <a:r>
              <a:rPr lang="en-GB" dirty="0">
                <a:solidFill>
                  <a:schemeClr val="bg1"/>
                </a:solidFill>
              </a:rPr>
              <a:t>Factories contribute emissions (continuous variable)</a:t>
            </a:r>
          </a:p>
          <a:p>
            <a:pPr marL="285750" indent="-285750">
              <a:buFont typeface="Wingdings" panose="05000000000000000000" pitchFamily="2" charset="2"/>
              <a:buChar char="Ø"/>
            </a:pPr>
            <a:r>
              <a:rPr lang="en-ZA" dirty="0">
                <a:solidFill>
                  <a:schemeClr val="bg1"/>
                </a:solidFill>
              </a:rPr>
              <a:t>Rainfall reduces AQI by cleaning the air</a:t>
            </a:r>
            <a:r>
              <a:rPr lang="en-GB" dirty="0">
                <a:solidFill>
                  <a:schemeClr val="bg1"/>
                </a:solidFill>
              </a:rPr>
              <a:t>  (continuous variable)</a:t>
            </a:r>
          </a:p>
          <a:p>
            <a:pPr marL="285750" indent="-285750">
              <a:buFont typeface="Wingdings" panose="05000000000000000000" pitchFamily="2" charset="2"/>
              <a:buChar char="Ø"/>
            </a:pPr>
            <a:r>
              <a:rPr lang="en-ZA" dirty="0">
                <a:solidFill>
                  <a:schemeClr val="bg1"/>
                </a:solidFill>
              </a:rPr>
              <a:t>Seasons capture meteorological variation</a:t>
            </a:r>
            <a:r>
              <a:rPr lang="en-GB" dirty="0">
                <a:solidFill>
                  <a:schemeClr val="bg1"/>
                </a:solidFill>
              </a:rPr>
              <a:t> (categorical)</a:t>
            </a:r>
          </a:p>
          <a:p>
            <a:pPr marL="285750" indent="-285750">
              <a:buFont typeface="Wingdings" panose="05000000000000000000" pitchFamily="2" charset="2"/>
              <a:buChar char="Ø"/>
            </a:pPr>
            <a:r>
              <a:rPr lang="en-GB" dirty="0">
                <a:solidFill>
                  <a:schemeClr val="bg1"/>
                </a:solidFill>
              </a:rPr>
              <a:t>Treatment (policy vs no policy) represents intervention. (categorical variable)</a:t>
            </a:r>
          </a:p>
          <a:p>
            <a:endParaRPr lang="en-GB" dirty="0"/>
          </a:p>
          <a:p>
            <a:endParaRPr lang="en-US" dirty="0"/>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D5A438F-B0CB-81B1-03B7-F1442605A823}"/>
                  </a:ext>
                </a:extLst>
              </p:cNvPr>
              <p:cNvSpPr txBox="1"/>
              <p:nvPr/>
            </p:nvSpPr>
            <p:spPr>
              <a:xfrm>
                <a:off x="4817546" y="4479381"/>
                <a:ext cx="7116958" cy="3170099"/>
              </a:xfrm>
              <a:prstGeom prst="rect">
                <a:avLst/>
              </a:prstGeom>
              <a:noFill/>
            </p:spPr>
            <p:txBody>
              <a:bodyPr wrap="square" rtlCol="0">
                <a:spAutoFit/>
              </a:bodyPr>
              <a:lstStyle/>
              <a:p>
                <a:pPr>
                  <a:buFont typeface="Arial" panose="020B0604020202020204" pitchFamily="34" charset="0"/>
                  <a:buChar char="•"/>
                </a:pPr>
                <a:r>
                  <a:rPr lang="en-GB" sz="1400" dirty="0"/>
                  <a:t>Response variable – AQI which is a continuous measure of air pollution.</a:t>
                </a:r>
              </a:p>
              <a:p>
                <a:pPr>
                  <a:buFont typeface="Arial" panose="020B0604020202020204" pitchFamily="34" charset="0"/>
                  <a:buChar char="•"/>
                </a:pPr>
                <a:r>
                  <a:rPr lang="en-ZA" sz="1400" dirty="0"/>
                  <a:t>Naïve model – </a:t>
                </a:r>
                <a:r>
                  <a:rPr lang="en-GB" sz="1400" dirty="0"/>
                  <a:t>AQI ~ traffic + factories + rainfall + season + treatment</a:t>
                </a:r>
              </a:p>
              <a:p>
                <a:r>
                  <a:rPr lang="en-ZA" sz="1400" dirty="0"/>
                  <a:t>All the predictors are significant since p-value&lt; 0.05. </a:t>
                </a:r>
                <a14:m>
                  <m:oMath xmlns:m="http://schemas.openxmlformats.org/officeDocument/2006/math">
                    <m:sSup>
                      <m:sSupPr>
                        <m:ctrlPr>
                          <a:rPr lang="en-GB" sz="1400" b="0" i="1" smtClean="0">
                            <a:latin typeface="Cambria Math" panose="02040503050406030204" pitchFamily="18" charset="0"/>
                          </a:rPr>
                        </m:ctrlPr>
                      </m:sSupPr>
                      <m:e>
                        <m:r>
                          <a:rPr lang="en-GB" sz="1400" b="0" i="1" smtClean="0">
                            <a:latin typeface="Cambria Math" panose="02040503050406030204" pitchFamily="18" charset="0"/>
                          </a:rPr>
                          <m:t>𝑅</m:t>
                        </m:r>
                      </m:e>
                      <m:sup>
                        <m:r>
                          <a:rPr lang="en-GB" sz="1400" b="0" i="1" smtClean="0">
                            <a:latin typeface="Cambria Math" panose="02040503050406030204" pitchFamily="18" charset="0"/>
                          </a:rPr>
                          <m:t>2</m:t>
                        </m:r>
                      </m:sup>
                    </m:sSup>
                    <m:r>
                      <a:rPr lang="en-GB" sz="1400" b="0" i="1" smtClean="0">
                        <a:latin typeface="Cambria Math" panose="02040503050406030204" pitchFamily="18" charset="0"/>
                      </a:rPr>
                      <m:t>=0.715</m:t>
                    </m:r>
                  </m:oMath>
                </a14:m>
                <a:r>
                  <a:rPr lang="en-ZA" sz="1400" dirty="0"/>
                  <a:t>, the model explains about 71.5% of the variation in AQI.</a:t>
                </a:r>
              </a:p>
              <a:p>
                <a:r>
                  <a:rPr lang="en-ZA" sz="1400" dirty="0"/>
                  <a:t>Higher traffic volumes are generally associated with a higher AQI. </a:t>
                </a:r>
              </a:p>
              <a:p>
                <a:r>
                  <a:rPr lang="en-ZA" sz="1400" b="1" dirty="0"/>
                  <a:t>Parameter interpretation</a:t>
                </a:r>
                <a:r>
                  <a:rPr lang="en-ZA" sz="1400" dirty="0"/>
                  <a:t>: </a:t>
                </a:r>
              </a:p>
              <a:p>
                <a:pPr marL="285750" indent="-285750">
                  <a:buFont typeface="Arial" panose="020B0604020202020204" pitchFamily="34" charset="0"/>
                  <a:buChar char="•"/>
                </a:pPr>
                <a:r>
                  <a:rPr lang="en-ZA" sz="1400" dirty="0"/>
                  <a:t>For one-unit increase in Factories the expected value of AQI is also increased by 5.8676 per unit</a:t>
                </a:r>
              </a:p>
              <a:p>
                <a:pPr marL="285750" indent="-285750">
                  <a:buFont typeface="Arial" panose="020B0604020202020204" pitchFamily="34" charset="0"/>
                  <a:buChar char="•"/>
                </a:pPr>
                <a:r>
                  <a:rPr lang="en-ZA" sz="1400" dirty="0"/>
                  <a:t>For one-unit decrease in </a:t>
                </a:r>
                <a:r>
                  <a:rPr lang="en-ZA" sz="1400" dirty="0" err="1"/>
                  <a:t>TreatmentPolicy</a:t>
                </a:r>
                <a:r>
                  <a:rPr lang="en-ZA" sz="1400" dirty="0"/>
                  <a:t> the expected value of AQI is also decreased by 8.1151</a:t>
                </a:r>
              </a:p>
              <a:p>
                <a:endParaRPr lang="en-ZA" sz="1400" dirty="0"/>
              </a:p>
              <a:p>
                <a:endParaRPr lang="en-ZA" sz="1400" dirty="0"/>
              </a:p>
              <a:p>
                <a:endParaRPr lang="en-ZA" sz="1400" dirty="0"/>
              </a:p>
              <a:p>
                <a:endParaRPr lang="en-ZA" dirty="0"/>
              </a:p>
            </p:txBody>
          </p:sp>
        </mc:Choice>
        <mc:Fallback>
          <p:sp>
            <p:nvSpPr>
              <p:cNvPr id="12" name="TextBox 11">
                <a:extLst>
                  <a:ext uri="{FF2B5EF4-FFF2-40B4-BE49-F238E27FC236}">
                    <a16:creationId xmlns:a16="http://schemas.microsoft.com/office/drawing/2014/main" id="{5D5A438F-B0CB-81B1-03B7-F1442605A823}"/>
                  </a:ext>
                </a:extLst>
              </p:cNvPr>
              <p:cNvSpPr txBox="1">
                <a:spLocks noRot="1" noChangeAspect="1" noMove="1" noResize="1" noEditPoints="1" noAdjustHandles="1" noChangeArrowheads="1" noChangeShapeType="1" noTextEdit="1"/>
              </p:cNvSpPr>
              <p:nvPr/>
            </p:nvSpPr>
            <p:spPr>
              <a:xfrm>
                <a:off x="4817546" y="4479381"/>
                <a:ext cx="7116958" cy="3170099"/>
              </a:xfrm>
              <a:prstGeom prst="rect">
                <a:avLst/>
              </a:prstGeom>
              <a:blipFill>
                <a:blip r:embed="rId3"/>
                <a:stretch>
                  <a:fillRect l="-257" t="-577"/>
                </a:stretch>
              </a:blipFill>
            </p:spPr>
            <p:txBody>
              <a:bodyPr/>
              <a:lstStyle/>
              <a:p>
                <a:r>
                  <a:rPr lang="en-ZA">
                    <a:noFill/>
                  </a:rPr>
                  <a:t> </a:t>
                </a:r>
              </a:p>
            </p:txBody>
          </p:sp>
        </mc:Fallback>
      </mc:AlternateContent>
    </p:spTree>
    <p:extLst>
      <p:ext uri="{BB962C8B-B14F-4D97-AF65-F5344CB8AC3E}">
        <p14:creationId xmlns:p14="http://schemas.microsoft.com/office/powerpoint/2010/main" val="2594697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E5373-368F-05F1-6CED-34E6C2A6BAB0}"/>
              </a:ext>
            </a:extLst>
          </p:cNvPr>
          <p:cNvSpPr>
            <a:spLocks noGrp="1"/>
          </p:cNvSpPr>
          <p:nvPr>
            <p:ph type="title"/>
          </p:nvPr>
        </p:nvSpPr>
        <p:spPr>
          <a:xfrm>
            <a:off x="643464" y="394138"/>
            <a:ext cx="3517567" cy="1177683"/>
          </a:xfrm>
        </p:spPr>
        <p:txBody>
          <a:bodyPr anchor="b">
            <a:normAutofit/>
          </a:bodyPr>
          <a:lstStyle/>
          <a:p>
            <a:r>
              <a:rPr lang="en-GB" dirty="0"/>
              <a:t>Model refinement</a:t>
            </a:r>
            <a:endParaRPr lang="en-ZA" dirty="0"/>
          </a:p>
        </p:txBody>
      </p:sp>
      <p:pic>
        <p:nvPicPr>
          <p:cNvPr id="5" name="Content Placeholder 4">
            <a:extLst>
              <a:ext uri="{FF2B5EF4-FFF2-40B4-BE49-F238E27FC236}">
                <a16:creationId xmlns:a16="http://schemas.microsoft.com/office/drawing/2014/main" id="{27523E60-DEF8-2649-C164-F4D704B23419}"/>
              </a:ext>
            </a:extLst>
          </p:cNvPr>
          <p:cNvPicPr>
            <a:picLocks noGrp="1" noChangeAspect="1"/>
          </p:cNvPicPr>
          <p:nvPr>
            <p:ph idx="1"/>
          </p:nvPr>
        </p:nvPicPr>
        <p:blipFill>
          <a:blip r:embed="rId2"/>
          <a:stretch>
            <a:fillRect/>
          </a:stretch>
        </p:blipFill>
        <p:spPr>
          <a:xfrm>
            <a:off x="5477011" y="394138"/>
            <a:ext cx="5705659" cy="3780000"/>
          </a:xfrm>
          <a:prstGeom prst="rect">
            <a:avLst/>
          </a:prstGeom>
          <a:noFill/>
        </p:spPr>
      </p:pic>
      <p:sp>
        <p:nvSpPr>
          <p:cNvPr id="14" name="Text Placeholder 3">
            <a:extLst>
              <a:ext uri="{FF2B5EF4-FFF2-40B4-BE49-F238E27FC236}">
                <a16:creationId xmlns:a16="http://schemas.microsoft.com/office/drawing/2014/main" id="{D640F042-9863-F026-A75B-C8596FE51BD2}"/>
              </a:ext>
            </a:extLst>
          </p:cNvPr>
          <p:cNvSpPr>
            <a:spLocks noGrp="1"/>
          </p:cNvSpPr>
          <p:nvPr>
            <p:ph type="body" sz="half" idx="2"/>
          </p:nvPr>
        </p:nvSpPr>
        <p:spPr>
          <a:xfrm>
            <a:off x="252663" y="1734208"/>
            <a:ext cx="4247148" cy="4904968"/>
          </a:xfrm>
        </p:spPr>
        <p:txBody>
          <a:bodyPr>
            <a:normAutofit fontScale="92500" lnSpcReduction="20000"/>
          </a:bodyPr>
          <a:lstStyle/>
          <a:p>
            <a:r>
              <a:rPr lang="en-US" b="1" dirty="0"/>
              <a:t>Residuals vs fitted</a:t>
            </a:r>
            <a:r>
              <a:rPr lang="en-US" dirty="0"/>
              <a:t>: the red line is more U shaped than horizontal line, we see a distinct non-linear pattern. This suggest that the relationship between predictors like traffic and AQI might not be strictly linear – we suspect there might be a squared term (transformation) or hidden interaction </a:t>
            </a:r>
            <a:endParaRPr lang="en-ZA" dirty="0"/>
          </a:p>
          <a:p>
            <a:r>
              <a:rPr lang="en-US" b="1" dirty="0"/>
              <a:t>Normal Q-Q plot</a:t>
            </a:r>
            <a:r>
              <a:rPr lang="en-US" dirty="0"/>
              <a:t>: the residuals do deviate but not much which seems suspicious and this might indicate that the model errors are not perfectly normal.</a:t>
            </a:r>
            <a:endParaRPr lang="en-ZA" dirty="0"/>
          </a:p>
          <a:p>
            <a:r>
              <a:rPr lang="en-US" b="1" dirty="0"/>
              <a:t>Scale- location plot: </a:t>
            </a:r>
            <a:r>
              <a:rPr lang="en-US" dirty="0"/>
              <a:t>the red line of residuals plot is not flat error variance might not be constant.</a:t>
            </a:r>
            <a:endParaRPr lang="en-ZA" dirty="0"/>
          </a:p>
          <a:p>
            <a:r>
              <a:rPr lang="en-US" b="1" dirty="0"/>
              <a:t>Residuals vs leverage</a:t>
            </a:r>
            <a:r>
              <a:rPr lang="en-US" dirty="0"/>
              <a:t>: there are some points that fall outside of cook’s distance meaning there are influential observation</a:t>
            </a:r>
            <a:endParaRPr lang="en-ZA" dirty="0"/>
          </a:p>
          <a:p>
            <a:endParaRPr lang="en-US" dirty="0"/>
          </a:p>
        </p:txBody>
      </p:sp>
      <p:sp>
        <p:nvSpPr>
          <p:cNvPr id="3" name="TextBox 2">
            <a:extLst>
              <a:ext uri="{FF2B5EF4-FFF2-40B4-BE49-F238E27FC236}">
                <a16:creationId xmlns:a16="http://schemas.microsoft.com/office/drawing/2014/main" id="{46434C33-1943-29E9-676A-A3991329F2D6}"/>
              </a:ext>
            </a:extLst>
          </p:cNvPr>
          <p:cNvSpPr txBox="1"/>
          <p:nvPr/>
        </p:nvSpPr>
        <p:spPr>
          <a:xfrm>
            <a:off x="5063319" y="4558352"/>
            <a:ext cx="6441744" cy="1077218"/>
          </a:xfrm>
          <a:prstGeom prst="rect">
            <a:avLst/>
          </a:prstGeom>
          <a:noFill/>
        </p:spPr>
        <p:txBody>
          <a:bodyPr wrap="square" rtlCol="0">
            <a:spAutoFit/>
          </a:bodyPr>
          <a:lstStyle/>
          <a:p>
            <a:r>
              <a:rPr lang="en-GB" sz="1600" dirty="0"/>
              <a:t>The naïve model assumed every variable acts independently and linearly. However, our diagnostic show U shaped instead of horizontal and variance seems to be non-constant. This proves the naïve model might be under-specified (missing important predictors).</a:t>
            </a:r>
            <a:endParaRPr lang="en-ZA" sz="1600" dirty="0"/>
          </a:p>
        </p:txBody>
      </p:sp>
    </p:spTree>
    <p:extLst>
      <p:ext uri="{BB962C8B-B14F-4D97-AF65-F5344CB8AC3E}">
        <p14:creationId xmlns:p14="http://schemas.microsoft.com/office/powerpoint/2010/main" val="2515884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90154C4-D776-6B86-91F4-B3F6B710F70A}"/>
              </a:ext>
            </a:extLst>
          </p:cNvPr>
          <p:cNvSpPr>
            <a:spLocks noGrp="1"/>
          </p:cNvSpPr>
          <p:nvPr>
            <p:ph type="title"/>
          </p:nvPr>
        </p:nvSpPr>
        <p:spPr>
          <a:xfrm>
            <a:off x="643465" y="303327"/>
            <a:ext cx="3517567" cy="2093975"/>
          </a:xfrm>
        </p:spPr>
        <p:txBody>
          <a:bodyPr>
            <a:normAutofit fontScale="90000"/>
          </a:bodyPr>
          <a:lstStyle/>
          <a:p>
            <a:r>
              <a:rPr lang="en-US" dirty="0"/>
              <a:t>Model refinement (interactions/transformations)</a:t>
            </a:r>
          </a:p>
        </p:txBody>
      </p:sp>
      <p:sp>
        <p:nvSpPr>
          <p:cNvPr id="21" name="Text Placeholder 3">
            <a:extLst>
              <a:ext uri="{FF2B5EF4-FFF2-40B4-BE49-F238E27FC236}">
                <a16:creationId xmlns:a16="http://schemas.microsoft.com/office/drawing/2014/main" id="{F9A6DFE2-7C5A-AB9B-8730-8E999A65D531}"/>
              </a:ext>
            </a:extLst>
          </p:cNvPr>
          <p:cNvSpPr>
            <a:spLocks noGrp="1"/>
          </p:cNvSpPr>
          <p:nvPr>
            <p:ph type="body" sz="half" idx="2"/>
          </p:nvPr>
        </p:nvSpPr>
        <p:spPr>
          <a:xfrm>
            <a:off x="643465" y="2538248"/>
            <a:ext cx="3517567" cy="3569307"/>
          </a:xfrm>
        </p:spPr>
        <p:txBody>
          <a:bodyPr>
            <a:normAutofit fontScale="85000" lnSpcReduction="10000"/>
          </a:bodyPr>
          <a:lstStyle/>
          <a:p>
            <a:pPr marL="285750" indent="-285750">
              <a:buFont typeface="Arial" panose="020B0604020202020204" pitchFamily="34" charset="0"/>
              <a:buChar char="•"/>
            </a:pPr>
            <a:r>
              <a:rPr lang="en-GB" dirty="0"/>
              <a:t>Interactions :</a:t>
            </a:r>
          </a:p>
          <a:p>
            <a:pPr marL="285750" indent="-285750">
              <a:buFont typeface="Wingdings" panose="05000000000000000000" pitchFamily="2" charset="2"/>
              <a:buChar char="Ø"/>
            </a:pPr>
            <a:r>
              <a:rPr lang="en-GB" dirty="0"/>
              <a:t>Traffic x season – winter emissions linger longer</a:t>
            </a:r>
          </a:p>
          <a:p>
            <a:pPr marL="285750" indent="-285750">
              <a:buFont typeface="Wingdings" panose="05000000000000000000" pitchFamily="2" charset="2"/>
              <a:buChar char="Ø"/>
            </a:pPr>
            <a:r>
              <a:rPr lang="en-GB" dirty="0"/>
              <a:t>Rainfall x factories – rainfall may offset factory emissions		</a:t>
            </a:r>
          </a:p>
          <a:p>
            <a:pPr marL="285750" indent="-285750">
              <a:buFont typeface="Arial" panose="020B0604020202020204" pitchFamily="34" charset="0"/>
              <a:buChar char="•"/>
            </a:pPr>
            <a:r>
              <a:rPr lang="en-GB" dirty="0"/>
              <a:t>Transformations - Rainfall effect may be nonlinear( heavy rainfall has stronger cleaning effect)</a:t>
            </a:r>
          </a:p>
          <a:p>
            <a:r>
              <a:rPr lang="en-GB" dirty="0"/>
              <a:t>Including interactions improves model fit and highlights context-specific effects</a:t>
            </a:r>
          </a:p>
          <a:p>
            <a:endParaRPr lang="en-US" dirty="0"/>
          </a:p>
        </p:txBody>
      </p:sp>
      <p:sp>
        <p:nvSpPr>
          <p:cNvPr id="2" name="TextBox 1">
            <a:extLst>
              <a:ext uri="{FF2B5EF4-FFF2-40B4-BE49-F238E27FC236}">
                <a16:creationId xmlns:a16="http://schemas.microsoft.com/office/drawing/2014/main" id="{D4CD9E8D-156D-970E-2C9E-43F807C2FB24}"/>
              </a:ext>
            </a:extLst>
          </p:cNvPr>
          <p:cNvSpPr txBox="1"/>
          <p:nvPr/>
        </p:nvSpPr>
        <p:spPr>
          <a:xfrm>
            <a:off x="5080613" y="4600575"/>
            <a:ext cx="6692287" cy="1938992"/>
          </a:xfrm>
          <a:prstGeom prst="rect">
            <a:avLst/>
          </a:prstGeom>
          <a:noFill/>
        </p:spPr>
        <p:txBody>
          <a:bodyPr wrap="square" rtlCol="0">
            <a:spAutoFit/>
          </a:bodyPr>
          <a:lstStyle/>
          <a:p>
            <a:r>
              <a:rPr lang="en-US" sz="1200" dirty="0"/>
              <a:t>Coefficient interpretation and significance:</a:t>
            </a:r>
          </a:p>
          <a:p>
            <a:pPr marL="171450" indent="-171450">
              <a:buFont typeface="Arial" panose="020B0604020202020204" pitchFamily="34" charset="0"/>
              <a:buChar char="•"/>
            </a:pPr>
            <a:r>
              <a:rPr lang="en-US" sz="1200" dirty="0"/>
              <a:t>For one-unit increase in Factories, holding other variables constant increases the expected value of AQI by 11.5183.  </a:t>
            </a:r>
            <a:br>
              <a:rPr lang="en-US" sz="1200" dirty="0"/>
            </a:br>
            <a:r>
              <a:rPr lang="en-US" sz="1200" dirty="0"/>
              <a:t>It is statistically significant since p-value &lt;0.05</a:t>
            </a:r>
          </a:p>
          <a:p>
            <a:pPr marL="171450" indent="-171450">
              <a:buFont typeface="Arial" panose="020B0604020202020204" pitchFamily="34" charset="0"/>
              <a:buChar char="•"/>
            </a:pPr>
            <a:r>
              <a:rPr lang="en-US" sz="1200" dirty="0"/>
              <a:t>For one-unit increase in Traffic holding other variables constant increases the expected value of AQI by 0.004091.  it is statistically significant since p-value &lt;0.05</a:t>
            </a:r>
          </a:p>
          <a:p>
            <a:pPr marL="171450" indent="-171450">
              <a:buFont typeface="Arial" panose="020B0604020202020204" pitchFamily="34" charset="0"/>
              <a:buChar char="•"/>
            </a:pPr>
            <a:r>
              <a:rPr lang="en-US" sz="1200" dirty="0"/>
              <a:t>For one-unit decrease in </a:t>
            </a:r>
            <a:r>
              <a:rPr lang="en-US" sz="1200" dirty="0" err="1"/>
              <a:t>TreatmentPolicy</a:t>
            </a:r>
            <a:r>
              <a:rPr lang="en-US" sz="1200" dirty="0"/>
              <a:t>  the expected value of AQI is decreased by 8.2373. and it is statistically significant with the p-value  &lt;0.05</a:t>
            </a:r>
          </a:p>
          <a:p>
            <a:pPr marL="171450" indent="-171450">
              <a:buFont typeface="Arial" panose="020B0604020202020204" pitchFamily="34" charset="0"/>
              <a:buChar char="•"/>
            </a:pPr>
            <a:r>
              <a:rPr lang="en-US" sz="1200" dirty="0"/>
              <a:t>Rainfall is not statistically significant since p-value&gt;0.05</a:t>
            </a:r>
          </a:p>
          <a:p>
            <a:pPr marL="171450" indent="-171450">
              <a:buFont typeface="Arial" panose="020B0604020202020204" pitchFamily="34" charset="0"/>
              <a:buChar char="•"/>
            </a:pPr>
            <a:r>
              <a:rPr lang="en-US" sz="1200" dirty="0"/>
              <a:t>The season variable is also insignificant</a:t>
            </a:r>
          </a:p>
        </p:txBody>
      </p:sp>
      <p:sp>
        <p:nvSpPr>
          <p:cNvPr id="4" name="Content Placeholder 3">
            <a:extLst>
              <a:ext uri="{FF2B5EF4-FFF2-40B4-BE49-F238E27FC236}">
                <a16:creationId xmlns:a16="http://schemas.microsoft.com/office/drawing/2014/main" id="{B67BA78B-792A-15EC-60BA-BF9F02D660C5}"/>
              </a:ext>
            </a:extLst>
          </p:cNvPr>
          <p:cNvSpPr>
            <a:spLocks noGrp="1"/>
          </p:cNvSpPr>
          <p:nvPr>
            <p:ph idx="1"/>
          </p:nvPr>
        </p:nvSpPr>
        <p:spPr>
          <a:xfrm>
            <a:off x="4829175" y="303327"/>
            <a:ext cx="6543675" cy="4297248"/>
          </a:xfrm>
        </p:spPr>
        <p:txBody>
          <a:bodyPr>
            <a:normAutofit/>
          </a:bodyPr>
          <a:lstStyle/>
          <a:p>
            <a:pPr marL="0" indent="0">
              <a:buNone/>
            </a:pPr>
            <a:endParaRPr lang="en-US" sz="1100" dirty="0"/>
          </a:p>
        </p:txBody>
      </p:sp>
      <p:pic>
        <p:nvPicPr>
          <p:cNvPr id="7" name="Content Placeholder 4">
            <a:extLst>
              <a:ext uri="{FF2B5EF4-FFF2-40B4-BE49-F238E27FC236}">
                <a16:creationId xmlns:a16="http://schemas.microsoft.com/office/drawing/2014/main" id="{5203E9CB-EF92-B2F0-4B96-F7C7C9191D69}"/>
              </a:ext>
            </a:extLst>
          </p:cNvPr>
          <p:cNvPicPr>
            <a:picLocks noGrp="1" noChangeAspect="1"/>
          </p:cNvPicPr>
          <p:nvPr/>
        </p:nvPicPr>
        <p:blipFill>
          <a:blip r:embed="rId2"/>
          <a:srcRect l="247" r="10180" b="-1"/>
          <a:stretch>
            <a:fillRect/>
          </a:stretch>
        </p:blipFill>
        <p:spPr>
          <a:xfrm>
            <a:off x="5080613" y="426844"/>
            <a:ext cx="4534874" cy="4050215"/>
          </a:xfrm>
          <a:prstGeom prst="rect">
            <a:avLst/>
          </a:prstGeom>
          <a:noFill/>
        </p:spPr>
      </p:pic>
    </p:spTree>
    <p:extLst>
      <p:ext uri="{BB962C8B-B14F-4D97-AF65-F5344CB8AC3E}">
        <p14:creationId xmlns:p14="http://schemas.microsoft.com/office/powerpoint/2010/main" val="3236444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15067-607E-580E-8CFA-F366C6621755}"/>
              </a:ext>
            </a:extLst>
          </p:cNvPr>
          <p:cNvSpPr>
            <a:spLocks noGrp="1"/>
          </p:cNvSpPr>
          <p:nvPr>
            <p:ph type="title"/>
          </p:nvPr>
        </p:nvSpPr>
        <p:spPr>
          <a:xfrm>
            <a:off x="643464" y="143639"/>
            <a:ext cx="3517567" cy="1816047"/>
          </a:xfrm>
        </p:spPr>
        <p:txBody>
          <a:bodyPr anchor="b">
            <a:normAutofit/>
          </a:bodyPr>
          <a:lstStyle/>
          <a:p>
            <a:r>
              <a:rPr lang="en-GB" dirty="0"/>
              <a:t>Reflection on observational data</a:t>
            </a:r>
            <a:endParaRPr lang="en-ZA" dirty="0"/>
          </a:p>
        </p:txBody>
      </p:sp>
      <p:pic>
        <p:nvPicPr>
          <p:cNvPr id="6" name="Content Placeholder 5">
            <a:extLst>
              <a:ext uri="{FF2B5EF4-FFF2-40B4-BE49-F238E27FC236}">
                <a16:creationId xmlns:a16="http://schemas.microsoft.com/office/drawing/2014/main" id="{2944D70A-901F-EE0A-F1BF-02A46EF1C68A}"/>
              </a:ext>
            </a:extLst>
          </p:cNvPr>
          <p:cNvPicPr>
            <a:picLocks noGrp="1" noChangeAspect="1"/>
          </p:cNvPicPr>
          <p:nvPr>
            <p:ph idx="1"/>
          </p:nvPr>
        </p:nvPicPr>
        <p:blipFill>
          <a:blip r:embed="rId2"/>
          <a:stretch>
            <a:fillRect/>
          </a:stretch>
        </p:blipFill>
        <p:spPr>
          <a:xfrm>
            <a:off x="5018176" y="570671"/>
            <a:ext cx="6776467" cy="4032000"/>
          </a:xfrm>
          <a:prstGeom prst="rect">
            <a:avLst/>
          </a:prstGeom>
          <a:noFill/>
        </p:spPr>
      </p:pic>
      <p:sp>
        <p:nvSpPr>
          <p:cNvPr id="13" name="Text Placeholder 3">
            <a:extLst>
              <a:ext uri="{FF2B5EF4-FFF2-40B4-BE49-F238E27FC236}">
                <a16:creationId xmlns:a16="http://schemas.microsoft.com/office/drawing/2014/main" id="{7AF9FC35-93E6-04B9-F863-4AEE0336769B}"/>
              </a:ext>
            </a:extLst>
          </p:cNvPr>
          <p:cNvSpPr>
            <a:spLocks noGrp="1"/>
          </p:cNvSpPr>
          <p:nvPr>
            <p:ph type="body" sz="half" idx="2"/>
          </p:nvPr>
        </p:nvSpPr>
        <p:spPr>
          <a:xfrm>
            <a:off x="286603" y="1959686"/>
            <a:ext cx="4080681" cy="4754675"/>
          </a:xfrm>
        </p:spPr>
        <p:txBody>
          <a:bodyPr>
            <a:normAutofit fontScale="92500" lnSpcReduction="20000"/>
          </a:bodyPr>
          <a:lstStyle/>
          <a:p>
            <a:r>
              <a:rPr lang="en-US" dirty="0"/>
              <a:t>So we experience a correlation issue.  </a:t>
            </a:r>
            <a:endParaRPr lang="en-ZA" dirty="0"/>
          </a:p>
          <a:p>
            <a:r>
              <a:rPr lang="en-US" dirty="0"/>
              <a:t>There is almost a linear relationship between Traffic and Factories, the pair plot shows that these predictors are correlated. This is identifiability problem. This is because we did not control the environment.</a:t>
            </a:r>
            <a:endParaRPr lang="en-ZA" dirty="0"/>
          </a:p>
          <a:p>
            <a:r>
              <a:rPr lang="en-US" dirty="0"/>
              <a:t>Here we noticed from the residuals plots that there might be interaction (like Traffic *Season) which we had to look for it because the variables are not balanced.</a:t>
            </a:r>
            <a:endParaRPr lang="en-ZA" dirty="0"/>
          </a:p>
          <a:p>
            <a:r>
              <a:rPr lang="en-US" dirty="0"/>
              <a:t>The relationship between Rainfall and AQI was obscured by seasonality. We observed confounding between Rainfall and Season. if we don't account for these seasonal 'state changes,' our estimates for variables like Rainfall or Traffic become </a:t>
            </a:r>
            <a:r>
              <a:rPr lang="en-US" b="1" dirty="0"/>
              <a:t>biased</a:t>
            </a:r>
            <a:endParaRPr lang="en-ZA" dirty="0"/>
          </a:p>
          <a:p>
            <a:endParaRPr lang="en-US" dirty="0"/>
          </a:p>
        </p:txBody>
      </p:sp>
      <p:sp>
        <p:nvSpPr>
          <p:cNvPr id="4" name="TextBox 3">
            <a:extLst>
              <a:ext uri="{FF2B5EF4-FFF2-40B4-BE49-F238E27FC236}">
                <a16:creationId xmlns:a16="http://schemas.microsoft.com/office/drawing/2014/main" id="{6F413884-F14C-BCD4-7484-F0C37514BB4C}"/>
              </a:ext>
            </a:extLst>
          </p:cNvPr>
          <p:cNvSpPr txBox="1"/>
          <p:nvPr/>
        </p:nvSpPr>
        <p:spPr>
          <a:xfrm>
            <a:off x="5018176" y="5072063"/>
            <a:ext cx="6483262" cy="646331"/>
          </a:xfrm>
          <a:prstGeom prst="rect">
            <a:avLst/>
          </a:prstGeom>
          <a:noFill/>
        </p:spPr>
        <p:txBody>
          <a:bodyPr wrap="square" rtlCol="0">
            <a:spAutoFit/>
          </a:bodyPr>
          <a:lstStyle/>
          <a:p>
            <a:r>
              <a:rPr lang="en-US" dirty="0"/>
              <a:t>Treatment does not seem to have any significance in AQI since it does not have any correlation with any of the variables</a:t>
            </a:r>
          </a:p>
        </p:txBody>
      </p:sp>
    </p:spTree>
    <p:extLst>
      <p:ext uri="{BB962C8B-B14F-4D97-AF65-F5344CB8AC3E}">
        <p14:creationId xmlns:p14="http://schemas.microsoft.com/office/powerpoint/2010/main" val="420566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E7458-F2FD-816D-0D6B-151B5DB3D365}"/>
              </a:ext>
            </a:extLst>
          </p:cNvPr>
          <p:cNvSpPr>
            <a:spLocks noGrp="1"/>
          </p:cNvSpPr>
          <p:nvPr>
            <p:ph type="title"/>
          </p:nvPr>
        </p:nvSpPr>
        <p:spPr/>
        <p:txBody>
          <a:bodyPr/>
          <a:lstStyle/>
          <a:p>
            <a:pPr algn="ctr"/>
            <a:r>
              <a:rPr lang="en-GB" dirty="0"/>
              <a:t>Introduction </a:t>
            </a:r>
            <a:endParaRPr lang="en-ZA"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A81C212-8D7F-350C-500D-A89D2E78F019}"/>
                  </a:ext>
                </a:extLst>
              </p:cNvPr>
              <p:cNvSpPr>
                <a:spLocks noGrp="1"/>
              </p:cNvSpPr>
              <p:nvPr>
                <p:ph idx="1"/>
              </p:nvPr>
            </p:nvSpPr>
            <p:spPr>
              <a:xfrm>
                <a:off x="649705" y="2009275"/>
                <a:ext cx="11201400" cy="4271210"/>
              </a:xfrm>
            </p:spPr>
            <p:txBody>
              <a:bodyPr>
                <a:normAutofit fontScale="85000" lnSpcReduction="10000"/>
              </a:bodyPr>
              <a:lstStyle/>
              <a:p>
                <a:r>
                  <a:rPr lang="en-US" dirty="0"/>
                  <a:t>Our dataset simulates the monthly expenditure of UFS students, we are investigating how socio-economic factors (funding and location) and personal behaviors (financial literacy and social habits) dictate a student’s monthly budget.</a:t>
                </a:r>
                <a:br>
                  <a:rPr lang="en-US" dirty="0"/>
                </a:br>
                <a:r>
                  <a:rPr lang="en-US" dirty="0"/>
                  <a:t>Our target range: The spending is constrained between R1200 and R13000 simulating realistic SA student pockets.</a:t>
                </a:r>
              </a:p>
              <a:p>
                <a:r>
                  <a:rPr lang="en-US" dirty="0"/>
                  <a:t>Predictor Variables (X Matrix)</a:t>
                </a:r>
              </a:p>
              <a:p>
                <a:pPr lvl="1">
                  <a:buFont typeface="Wingdings" panose="05000000000000000000" pitchFamily="2" charset="2"/>
                  <a:buChar char="Ø"/>
                </a:pPr>
                <a:r>
                  <a:rPr lang="en-US" sz="1900" dirty="0"/>
                  <a:t>Funding: </a:t>
                </a:r>
                <a:r>
                  <a:rPr lang="en-US" sz="1900" b="1" dirty="0"/>
                  <a:t>binary</a:t>
                </a:r>
                <a:r>
                  <a:rPr lang="en-US" sz="1900" dirty="0"/>
                  <a:t> 0=self-funded, 1=Bursary (60% probability)</a:t>
                </a:r>
              </a:p>
              <a:p>
                <a:pPr lvl="1">
                  <a:buFont typeface="Wingdings" panose="05000000000000000000" pitchFamily="2" charset="2"/>
                  <a:buChar char="Ø"/>
                </a:pPr>
                <a:r>
                  <a:rPr lang="en-US" sz="1900" dirty="0"/>
                  <a:t>Accommodation:  </a:t>
                </a:r>
                <a:r>
                  <a:rPr lang="en-US" sz="1900" b="1" dirty="0"/>
                  <a:t>categorical</a:t>
                </a:r>
                <a:r>
                  <a:rPr lang="en-US" sz="1900" dirty="0"/>
                  <a:t> 1=Res, 2=Off-campus, 3=Private Apartment</a:t>
                </a:r>
              </a:p>
              <a:p>
                <a:pPr lvl="1">
                  <a:buFont typeface="Wingdings" panose="05000000000000000000" pitchFamily="2" charset="2"/>
                  <a:buChar char="Ø"/>
                </a:pPr>
                <a:r>
                  <a:rPr lang="en-US" sz="1900" dirty="0"/>
                  <a:t>Distance: </a:t>
                </a:r>
                <a:r>
                  <a:rPr lang="en-US" sz="1900" b="1" dirty="0"/>
                  <a:t>continuous</a:t>
                </a:r>
                <a:r>
                  <a:rPr lang="en-US" sz="1900" dirty="0"/>
                  <a:t> KM from campus; linked to accommodation type</a:t>
                </a:r>
              </a:p>
              <a:p>
                <a:pPr lvl="1">
                  <a:buFont typeface="Wingdings" panose="05000000000000000000" pitchFamily="2" charset="2"/>
                  <a:buChar char="Ø"/>
                </a:pPr>
                <a:r>
                  <a:rPr lang="en-US" sz="1900" dirty="0"/>
                  <a:t>Financial literacy: </a:t>
                </a:r>
                <a:r>
                  <a:rPr lang="en-US" sz="1900" b="1" dirty="0"/>
                  <a:t>continuous</a:t>
                </a:r>
                <a:r>
                  <a:rPr lang="en-US" sz="1900" dirty="0"/>
                  <a:t> Financial Literacy score (0-100) using a bounded normal distribution.</a:t>
                </a:r>
              </a:p>
              <a:p>
                <a:pPr lvl="1">
                  <a:buFont typeface="Wingdings" panose="05000000000000000000" pitchFamily="2" charset="2"/>
                  <a:buChar char="Ø"/>
                </a:pPr>
                <a:r>
                  <a:rPr lang="en-US" sz="1900" dirty="0"/>
                  <a:t>Outings: </a:t>
                </a:r>
                <a:r>
                  <a:rPr lang="en-US" sz="1900" b="1" dirty="0"/>
                  <a:t>count</a:t>
                </a:r>
                <a:r>
                  <a:rPr lang="en-US" sz="1900" dirty="0"/>
                  <a:t> Number of social outings, modeled using a </a:t>
                </a:r>
                <a:r>
                  <a:rPr lang="en-US" sz="1900" b="1" dirty="0"/>
                  <a:t>Poisson distribution</a:t>
                </a:r>
                <a:r>
                  <a:rPr lang="en-US" dirty="0"/>
                  <a:t>.</a:t>
                </a:r>
                <a:endParaRPr lang="en-ZA" dirty="0"/>
              </a:p>
              <a:p>
                <a:r>
                  <a:rPr lang="en-US" dirty="0"/>
                  <a:t>Correlation structure: the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_</m:t>
                    </m:r>
                    <m:r>
                      <a:rPr lang="en-US" i="1" dirty="0" smtClean="0">
                        <a:latin typeface="Cambria Math" panose="02040503050406030204" pitchFamily="18" charset="0"/>
                      </a:rPr>
                      <m:t>𝑠𝑡𝑢𝑑𝑦</m:t>
                    </m:r>
                    <m:r>
                      <a:rPr lang="en-US" i="1" dirty="0" smtClean="0">
                        <a:latin typeface="Cambria Math" panose="02040503050406030204" pitchFamily="18" charset="0"/>
                      </a:rPr>
                      <m:t>_</m:t>
                    </m:r>
                    <m:r>
                      <a:rPr lang="en-US" i="1" dirty="0" smtClean="0">
                        <a:latin typeface="Cambria Math" panose="02040503050406030204" pitchFamily="18" charset="0"/>
                      </a:rPr>
                      <m:t>h𝑟𝑠</m:t>
                    </m:r>
                    <m:r>
                      <a:rPr lang="en-US" i="1" dirty="0">
                        <a:latin typeface="Cambria Math" panose="02040503050406030204" pitchFamily="18" charset="0"/>
                      </a:rPr>
                      <m:t> </m:t>
                    </m:r>
                  </m:oMath>
                </a14:m>
                <a:r>
                  <a:rPr lang="en-US" dirty="0"/>
                  <a:t>and </a:t>
                </a:r>
                <a14:m>
                  <m:oMath xmlns:m="http://schemas.openxmlformats.org/officeDocument/2006/math">
                    <m:r>
                      <a:rPr lang="en-US" i="1" dirty="0" smtClean="0">
                        <a:latin typeface="Cambria Math" panose="02040503050406030204" pitchFamily="18" charset="0"/>
                      </a:rPr>
                      <m:t>𝑥</m:t>
                    </m:r>
                    <m:r>
                      <a:rPr lang="en-US" i="1" dirty="0" smtClean="0">
                        <a:latin typeface="Cambria Math" panose="02040503050406030204" pitchFamily="18" charset="0"/>
                      </a:rPr>
                      <m:t>_</m:t>
                    </m:r>
                    <m:r>
                      <a:rPr lang="en-US" i="1" dirty="0" smtClean="0">
                        <a:latin typeface="Cambria Math" panose="02040503050406030204" pitchFamily="18" charset="0"/>
                      </a:rPr>
                      <m:t>𝑓𝑖𝑛</m:t>
                    </m:r>
                    <m:r>
                      <a:rPr lang="en-US" i="1" dirty="0" smtClean="0">
                        <a:latin typeface="Cambria Math" panose="02040503050406030204" pitchFamily="18" charset="0"/>
                      </a:rPr>
                      <m:t>_</m:t>
                    </m:r>
                    <m:r>
                      <a:rPr lang="en-US" i="1" dirty="0" smtClean="0">
                        <a:latin typeface="Cambria Math" panose="02040503050406030204" pitchFamily="18" charset="0"/>
                      </a:rPr>
                      <m:t>𝑙𝑖𝑡</m:t>
                    </m:r>
                    <m:r>
                      <a:rPr lang="en-US" i="1" dirty="0">
                        <a:latin typeface="Cambria Math" panose="02040503050406030204" pitchFamily="18" charset="0"/>
                      </a:rPr>
                      <m:t> </m:t>
                    </m:r>
                  </m:oMath>
                </a14:m>
                <a:r>
                  <a:rPr lang="en-US" dirty="0"/>
                  <a:t>reduce the expected number of</a:t>
                </a:r>
                <a14:m>
                  <m:oMath xmlns:m="http://schemas.openxmlformats.org/officeDocument/2006/math">
                    <m:r>
                      <a:rPr lang="en-US" i="1" dirty="0" smtClean="0">
                        <a:latin typeface="Cambria Math" panose="02040503050406030204" pitchFamily="18" charset="0"/>
                      </a:rPr>
                      <m:t> </m:t>
                    </m:r>
                    <m:r>
                      <a:rPr lang="en-US" i="1" dirty="0" err="1">
                        <a:latin typeface="Cambria Math" panose="02040503050406030204" pitchFamily="18" charset="0"/>
                      </a:rPr>
                      <m:t>𝑥</m:t>
                    </m:r>
                    <m:r>
                      <a:rPr lang="en-US" i="1" dirty="0" err="1">
                        <a:latin typeface="Cambria Math" panose="02040503050406030204" pitchFamily="18" charset="0"/>
                      </a:rPr>
                      <m:t>_</m:t>
                    </m:r>
                    <m:r>
                      <a:rPr lang="en-US" i="1" dirty="0" err="1">
                        <a:latin typeface="Cambria Math" panose="02040503050406030204" pitchFamily="18" charset="0"/>
                      </a:rPr>
                      <m:t>𝑜𝑢𝑡𝑖𝑛𝑔𝑠</m:t>
                    </m:r>
                  </m:oMath>
                </a14:m>
                <a:r>
                  <a:rPr lang="en-US" dirty="0"/>
                  <a:t>. Meaning, Students who study more or have higher financial literacy tend to go out less, which indirectly affects their total spending</a:t>
                </a:r>
                <a:endParaRPr lang="en-ZA" dirty="0"/>
              </a:p>
              <a:p>
                <a:r>
                  <a:rPr lang="en-US" b="1" dirty="0"/>
                  <a:t>True Model: </a:t>
                </a:r>
                <a14:m>
                  <m:oMath xmlns:m="http://schemas.openxmlformats.org/officeDocument/2006/math">
                    <m:r>
                      <a:rPr lang="en-US" b="1" i="1" dirty="0" smtClean="0">
                        <a:latin typeface="Cambria Math" panose="02040503050406030204" pitchFamily="18" charset="0"/>
                      </a:rPr>
                      <m:t>𝑺𝒑𝒆𝒏𝒅𝒊𝒏𝒈</m:t>
                    </m:r>
                    <m:r>
                      <a:rPr lang="en-US" b="1" i="1" dirty="0">
                        <a:latin typeface="Cambria Math" panose="02040503050406030204" pitchFamily="18" charset="0"/>
                      </a:rPr>
                      <m:t>= </m:t>
                    </m:r>
                    <m:r>
                      <a:rPr lang="en-US" b="1" i="1" dirty="0">
                        <a:latin typeface="Cambria Math" panose="02040503050406030204" pitchFamily="18" charset="0"/>
                      </a:rPr>
                      <m:t>𝟐𝟐𝟎𝟎</m:t>
                    </m:r>
                    <m:r>
                      <a:rPr lang="en-US" b="1" i="1" dirty="0">
                        <a:latin typeface="Cambria Math" panose="02040503050406030204" pitchFamily="18" charset="0"/>
                      </a:rPr>
                      <m:t>+ </m:t>
                    </m:r>
                    <m:r>
                      <a:rPr lang="en-US" b="1" i="1" dirty="0">
                        <a:latin typeface="Cambria Math" panose="02040503050406030204" pitchFamily="18" charset="0"/>
                      </a:rPr>
                      <m:t>𝟓𝟎𝟎</m:t>
                    </m:r>
                    <m:r>
                      <a:rPr lang="en-US" b="1" i="1" dirty="0">
                        <a:latin typeface="Cambria Math" panose="02040503050406030204" pitchFamily="18" charset="0"/>
                      </a:rPr>
                      <m:t>(</m:t>
                    </m:r>
                    <m:r>
                      <a:rPr lang="en-US" b="1" i="1" dirty="0" smtClean="0">
                        <a:solidFill>
                          <a:srgbClr val="002060"/>
                        </a:solidFill>
                        <a:latin typeface="Cambria Math" panose="02040503050406030204" pitchFamily="18" charset="0"/>
                      </a:rPr>
                      <m:t>𝑭𝒖𝒏𝒅𝒊𝒏𝒈</m:t>
                    </m:r>
                    <m:r>
                      <a:rPr lang="en-US" b="1" i="1" dirty="0">
                        <a:latin typeface="Cambria Math" panose="02040503050406030204" pitchFamily="18" charset="0"/>
                      </a:rPr>
                      <m:t>) + </m:t>
                    </m:r>
                    <m:r>
                      <a:rPr lang="en-US" b="1" i="1" dirty="0">
                        <a:latin typeface="Cambria Math" panose="02040503050406030204" pitchFamily="18" charset="0"/>
                      </a:rPr>
                      <m:t>𝑨𝒄𝒄</m:t>
                    </m:r>
                    <m:r>
                      <a:rPr lang="en-US" b="1" i="1" dirty="0">
                        <a:latin typeface="Cambria Math" panose="02040503050406030204" pitchFamily="18" charset="0"/>
                      </a:rPr>
                      <m:t>(</m:t>
                    </m:r>
                    <m:r>
                      <a:rPr lang="en-US" b="1" i="1" dirty="0" smtClean="0">
                        <a:solidFill>
                          <a:srgbClr val="002060"/>
                        </a:solidFill>
                        <a:latin typeface="Cambria Math" panose="02040503050406030204" pitchFamily="18" charset="0"/>
                      </a:rPr>
                      <m:t>𝒂𝒅𝒋</m:t>
                    </m:r>
                    <m:r>
                      <a:rPr lang="en-US" b="1" i="1" dirty="0">
                        <a:latin typeface="Cambria Math" panose="02040503050406030204" pitchFamily="18" charset="0"/>
                      </a:rPr>
                      <m:t>)+ </m:t>
                    </m:r>
                    <m:r>
                      <a:rPr lang="en-US" b="1" i="1" dirty="0">
                        <a:latin typeface="Cambria Math" panose="02040503050406030204" pitchFamily="18" charset="0"/>
                      </a:rPr>
                      <m:t>𝟐𝟓</m:t>
                    </m:r>
                    <m:r>
                      <a:rPr lang="en-US" b="1" i="1" dirty="0">
                        <a:latin typeface="Cambria Math" panose="02040503050406030204" pitchFamily="18" charset="0"/>
                      </a:rPr>
                      <m:t>(</m:t>
                    </m:r>
                    <m:r>
                      <a:rPr lang="en-US" b="1" i="1" dirty="0" smtClean="0">
                        <a:solidFill>
                          <a:srgbClr val="002060"/>
                        </a:solidFill>
                        <a:latin typeface="Cambria Math" panose="02040503050406030204" pitchFamily="18" charset="0"/>
                      </a:rPr>
                      <m:t>𝑫𝒊𝒔𝒕𝒂𝒏𝒄𝒆</m:t>
                    </m:r>
                    <m:r>
                      <a:rPr lang="en-US" b="1" i="1" dirty="0">
                        <a:latin typeface="Cambria Math" panose="02040503050406030204" pitchFamily="18" charset="0"/>
                      </a:rPr>
                      <m:t>) + </m:t>
                    </m:r>
                    <m:r>
                      <a:rPr lang="en-US" b="1" i="1" dirty="0">
                        <a:latin typeface="Cambria Math" panose="02040503050406030204" pitchFamily="18" charset="0"/>
                      </a:rPr>
                      <m:t>𝟏𝟖𝟎</m:t>
                    </m:r>
                    <m:r>
                      <a:rPr lang="en-US" b="1" i="1" dirty="0">
                        <a:latin typeface="Cambria Math" panose="02040503050406030204" pitchFamily="18" charset="0"/>
                      </a:rPr>
                      <m:t>(</m:t>
                    </m:r>
                    <m:r>
                      <a:rPr lang="en-US" b="1" i="1" dirty="0" smtClean="0">
                        <a:solidFill>
                          <a:srgbClr val="002060"/>
                        </a:solidFill>
                        <a:latin typeface="Cambria Math" panose="02040503050406030204" pitchFamily="18" charset="0"/>
                      </a:rPr>
                      <m:t>𝑶𝒖𝒕𝒊𝒏𝒈𝒔</m:t>
                    </m:r>
                    <m:r>
                      <a:rPr lang="en-US" b="1" i="1" dirty="0">
                        <a:latin typeface="Cambria Math" panose="02040503050406030204" pitchFamily="18" charset="0"/>
                      </a:rPr>
                      <m:t>) − </m:t>
                    </m:r>
                    <m:r>
                      <a:rPr lang="en-US" b="1" i="1" dirty="0">
                        <a:latin typeface="Cambria Math" panose="02040503050406030204" pitchFamily="18" charset="0"/>
                      </a:rPr>
                      <m:t>𝟏𝟐</m:t>
                    </m:r>
                    <m:r>
                      <a:rPr lang="en-US" b="1" i="1" dirty="0">
                        <a:latin typeface="Cambria Math" panose="02040503050406030204" pitchFamily="18" charset="0"/>
                      </a:rPr>
                      <m:t>(</m:t>
                    </m:r>
                    <m:r>
                      <a:rPr lang="en-US" b="1" i="1" dirty="0" err="1">
                        <a:latin typeface="Cambria Math" panose="02040503050406030204" pitchFamily="18" charset="0"/>
                      </a:rPr>
                      <m:t>𝑭𝒊𝒏</m:t>
                    </m:r>
                    <m:r>
                      <a:rPr lang="en-GB" b="1" i="1" dirty="0" smtClean="0">
                        <a:solidFill>
                          <a:srgbClr val="002060"/>
                        </a:solidFill>
                        <a:latin typeface="Cambria Math" panose="02040503050406030204" pitchFamily="18" charset="0"/>
                      </a:rPr>
                      <m:t>_</m:t>
                    </m:r>
                    <m:r>
                      <a:rPr lang="en-US" b="1" i="1" dirty="0" err="1">
                        <a:latin typeface="Cambria Math" panose="02040503050406030204" pitchFamily="18" charset="0"/>
                      </a:rPr>
                      <m:t>𝑳𝒊𝒕</m:t>
                    </m:r>
                    <m:r>
                      <a:rPr lang="en-US" b="1" i="1" dirty="0">
                        <a:latin typeface="Cambria Math" panose="02040503050406030204" pitchFamily="18" charset="0"/>
                      </a:rPr>
                      <m:t>) + </m:t>
                    </m:r>
                    <m:r>
                      <a:rPr lang="en-US" b="1" i="1">
                        <a:latin typeface="Cambria Math" panose="02040503050406030204" pitchFamily="18" charset="0"/>
                      </a:rPr>
                      <m:t>𝝐</m:t>
                    </m:r>
                  </m:oMath>
                </a14:m>
                <a:endParaRPr lang="en-ZA" b="1" dirty="0"/>
              </a:p>
              <a:p>
                <a:endParaRPr lang="en-ZA" dirty="0"/>
              </a:p>
            </p:txBody>
          </p:sp>
        </mc:Choice>
        <mc:Fallback>
          <p:sp>
            <p:nvSpPr>
              <p:cNvPr id="3" name="Content Placeholder 2">
                <a:extLst>
                  <a:ext uri="{FF2B5EF4-FFF2-40B4-BE49-F238E27FC236}">
                    <a16:creationId xmlns:a16="http://schemas.microsoft.com/office/drawing/2014/main" id="{EA81C212-8D7F-350C-500D-A89D2E78F019}"/>
                  </a:ext>
                </a:extLst>
              </p:cNvPr>
              <p:cNvSpPr>
                <a:spLocks noGrp="1" noRot="1" noChangeAspect="1" noMove="1" noResize="1" noEditPoints="1" noAdjustHandles="1" noChangeArrowheads="1" noChangeShapeType="1" noTextEdit="1"/>
              </p:cNvSpPr>
              <p:nvPr>
                <p:ph idx="1"/>
              </p:nvPr>
            </p:nvSpPr>
            <p:spPr>
              <a:xfrm>
                <a:off x="649705" y="2009275"/>
                <a:ext cx="11201400" cy="4271210"/>
              </a:xfrm>
              <a:blipFill>
                <a:blip r:embed="rId2"/>
                <a:stretch>
                  <a:fillRect l="-327" t="-429"/>
                </a:stretch>
              </a:blipFill>
            </p:spPr>
            <p:txBody>
              <a:bodyPr/>
              <a:lstStyle/>
              <a:p>
                <a:r>
                  <a:rPr lang="en-ZA">
                    <a:noFill/>
                  </a:rPr>
                  <a:t> </a:t>
                </a:r>
              </a:p>
            </p:txBody>
          </p:sp>
        </mc:Fallback>
      </mc:AlternateContent>
    </p:spTree>
    <p:extLst>
      <p:ext uri="{BB962C8B-B14F-4D97-AF65-F5344CB8AC3E}">
        <p14:creationId xmlns:p14="http://schemas.microsoft.com/office/powerpoint/2010/main" val="2861167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65A58-BA9F-A4E4-620D-E054DD2C52AB}"/>
              </a:ext>
            </a:extLst>
          </p:cNvPr>
          <p:cNvSpPr>
            <a:spLocks noGrp="1"/>
          </p:cNvSpPr>
          <p:nvPr>
            <p:ph type="title"/>
          </p:nvPr>
        </p:nvSpPr>
        <p:spPr>
          <a:xfrm>
            <a:off x="643464" y="329183"/>
            <a:ext cx="3517567" cy="2093975"/>
          </a:xfrm>
        </p:spPr>
        <p:txBody>
          <a:bodyPr anchor="b">
            <a:normAutofit/>
          </a:bodyPr>
          <a:lstStyle/>
          <a:p>
            <a:r>
              <a:rPr lang="en-ZA" dirty="0"/>
              <a:t>Scatterplot matrix &amp; interpretation</a:t>
            </a:r>
          </a:p>
        </p:txBody>
      </p:sp>
      <p:pic>
        <p:nvPicPr>
          <p:cNvPr id="6" name="Content Placeholder 5">
            <a:extLst>
              <a:ext uri="{FF2B5EF4-FFF2-40B4-BE49-F238E27FC236}">
                <a16:creationId xmlns:a16="http://schemas.microsoft.com/office/drawing/2014/main" id="{51A4D0EA-47BD-B4CB-9B6B-FEF803A210BC}"/>
              </a:ext>
            </a:extLst>
          </p:cNvPr>
          <p:cNvPicPr>
            <a:picLocks noGrp="1" noChangeAspect="1"/>
          </p:cNvPicPr>
          <p:nvPr>
            <p:ph idx="1"/>
          </p:nvPr>
        </p:nvPicPr>
        <p:blipFill>
          <a:blip r:embed="rId2"/>
          <a:stretch>
            <a:fillRect/>
          </a:stretch>
        </p:blipFill>
        <p:spPr>
          <a:xfrm>
            <a:off x="5458984" y="1140713"/>
            <a:ext cx="5928344" cy="4638928"/>
          </a:xfrm>
          <a:prstGeom prst="rect">
            <a:avLst/>
          </a:prstGeom>
          <a:noFill/>
        </p:spPr>
      </p:pic>
      <p:sp>
        <p:nvSpPr>
          <p:cNvPr id="8" name="Text Placeholder 3">
            <a:extLst>
              <a:ext uri="{FF2B5EF4-FFF2-40B4-BE49-F238E27FC236}">
                <a16:creationId xmlns:a16="http://schemas.microsoft.com/office/drawing/2014/main" id="{5EF53F2C-9330-C7F9-3EA6-44F9F049E11B}"/>
              </a:ext>
            </a:extLst>
          </p:cNvPr>
          <p:cNvSpPr>
            <a:spLocks noGrp="1"/>
          </p:cNvSpPr>
          <p:nvPr>
            <p:ph type="body" sz="half" idx="2"/>
          </p:nvPr>
        </p:nvSpPr>
        <p:spPr>
          <a:xfrm>
            <a:off x="286844" y="2586096"/>
            <a:ext cx="4230806" cy="4176451"/>
          </a:xfrm>
        </p:spPr>
        <p:txBody>
          <a:bodyPr>
            <a:normAutofit fontScale="92500"/>
          </a:bodyPr>
          <a:lstStyle/>
          <a:p>
            <a:r>
              <a:rPr lang="en-US" dirty="0"/>
              <a:t>The scatterplot shows clear relationships between spending and our predictors.</a:t>
            </a:r>
          </a:p>
          <a:p>
            <a:pPr marL="285750" indent="-285750">
              <a:buFont typeface="Arial" panose="020B0604020202020204" pitchFamily="34" charset="0"/>
              <a:buChar char="•"/>
            </a:pPr>
            <a:r>
              <a:rPr lang="en-US" dirty="0"/>
              <a:t>Distance – spending : has a positive trend, farther students tend to spend more. observational correlation may be inflated by confounding( e.g., accommodation type)</a:t>
            </a:r>
          </a:p>
          <a:p>
            <a:pPr marL="285750" indent="-285750">
              <a:buFont typeface="Arial" panose="020B0604020202020204" pitchFamily="34" charset="0"/>
              <a:buChar char="•"/>
            </a:pPr>
            <a:r>
              <a:rPr lang="en-US" dirty="0" err="1"/>
              <a:t>FinLit</a:t>
            </a:r>
            <a:r>
              <a:rPr lang="en-US" dirty="0"/>
              <a:t> – spending : negative relationship, higher literacy reduces spending.</a:t>
            </a:r>
          </a:p>
          <a:p>
            <a:pPr marL="285750" indent="-285750">
              <a:buFont typeface="Arial" panose="020B0604020202020204" pitchFamily="34" charset="0"/>
              <a:buChar char="•"/>
            </a:pPr>
            <a:r>
              <a:rPr lang="en-US" dirty="0"/>
              <a:t>Outings – spending : strong positive correlation, more outings, higher spending.</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0014639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7155-A0E4-E142-D8F1-17F0ED39F57C}"/>
              </a:ext>
            </a:extLst>
          </p:cNvPr>
          <p:cNvSpPr>
            <a:spLocks noGrp="1"/>
          </p:cNvSpPr>
          <p:nvPr>
            <p:ph type="title"/>
          </p:nvPr>
        </p:nvSpPr>
        <p:spPr>
          <a:xfrm>
            <a:off x="445845" y="395785"/>
            <a:ext cx="3912806" cy="1234975"/>
          </a:xfrm>
        </p:spPr>
        <p:txBody>
          <a:bodyPr anchor="b">
            <a:normAutofit/>
          </a:bodyPr>
          <a:lstStyle/>
          <a:p>
            <a:r>
              <a:rPr lang="en-ZA" dirty="0"/>
              <a:t>True vs estimated model</a:t>
            </a:r>
          </a:p>
        </p:txBody>
      </p:sp>
      <p:pic>
        <p:nvPicPr>
          <p:cNvPr id="6" name="Content Placeholder 5">
            <a:extLst>
              <a:ext uri="{FF2B5EF4-FFF2-40B4-BE49-F238E27FC236}">
                <a16:creationId xmlns:a16="http://schemas.microsoft.com/office/drawing/2014/main" id="{65C51185-3A25-2863-7C4E-A3D8ED146BDD}"/>
              </a:ext>
            </a:extLst>
          </p:cNvPr>
          <p:cNvPicPr>
            <a:picLocks noGrp="1" noChangeAspect="1"/>
          </p:cNvPicPr>
          <p:nvPr>
            <p:ph idx="1"/>
          </p:nvPr>
        </p:nvPicPr>
        <p:blipFill>
          <a:blip r:embed="rId2"/>
          <a:stretch>
            <a:fillRect/>
          </a:stretch>
        </p:blipFill>
        <p:spPr>
          <a:xfrm>
            <a:off x="5491068" y="625035"/>
            <a:ext cx="4467320" cy="3354127"/>
          </a:xfrm>
          <a:prstGeom prst="rect">
            <a:avLst/>
          </a:prstGeom>
          <a:noFill/>
        </p:spPr>
      </p:pic>
      <p:sp>
        <p:nvSpPr>
          <p:cNvPr id="15" name="Text Placeholder 3">
            <a:extLst>
              <a:ext uri="{FF2B5EF4-FFF2-40B4-BE49-F238E27FC236}">
                <a16:creationId xmlns:a16="http://schemas.microsoft.com/office/drawing/2014/main" id="{CDE9987A-ED6E-8E43-40F2-8F9A240264A3}"/>
              </a:ext>
            </a:extLst>
          </p:cNvPr>
          <p:cNvSpPr>
            <a:spLocks noGrp="1"/>
          </p:cNvSpPr>
          <p:nvPr>
            <p:ph type="body" sz="half" idx="2"/>
          </p:nvPr>
        </p:nvSpPr>
        <p:spPr>
          <a:xfrm>
            <a:off x="445845" y="1801504"/>
            <a:ext cx="3715187" cy="4660711"/>
          </a:xfrm>
        </p:spPr>
        <p:txBody>
          <a:bodyPr/>
          <a:lstStyle/>
          <a:p>
            <a:endParaRPr lang="en-US" dirty="0"/>
          </a:p>
        </p:txBody>
      </p:sp>
    </p:spTree>
    <p:extLst>
      <p:ext uri="{BB962C8B-B14F-4D97-AF65-F5344CB8AC3E}">
        <p14:creationId xmlns:p14="http://schemas.microsoft.com/office/powerpoint/2010/main" val="2305788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CDA67-B3A2-22B9-44C8-1C26671132F9}"/>
              </a:ext>
            </a:extLst>
          </p:cNvPr>
          <p:cNvSpPr>
            <a:spLocks noGrp="1"/>
          </p:cNvSpPr>
          <p:nvPr>
            <p:ph type="title"/>
          </p:nvPr>
        </p:nvSpPr>
        <p:spPr>
          <a:xfrm>
            <a:off x="73726" y="333830"/>
            <a:ext cx="4526149" cy="1189409"/>
          </a:xfrm>
        </p:spPr>
        <p:txBody>
          <a:bodyPr anchor="b">
            <a:normAutofit/>
          </a:bodyPr>
          <a:lstStyle/>
          <a:p>
            <a:r>
              <a:rPr lang="en-ZA" dirty="0"/>
              <a:t>Reflection on observational data</a:t>
            </a:r>
          </a:p>
        </p:txBody>
      </p:sp>
      <p:pic>
        <p:nvPicPr>
          <p:cNvPr id="7" name="Content Placeholder 6">
            <a:extLst>
              <a:ext uri="{FF2B5EF4-FFF2-40B4-BE49-F238E27FC236}">
                <a16:creationId xmlns:a16="http://schemas.microsoft.com/office/drawing/2014/main" id="{43568409-82ED-4C83-8779-006CE2DE8698}"/>
              </a:ext>
            </a:extLst>
          </p:cNvPr>
          <p:cNvPicPr>
            <a:picLocks noGrp="1" noChangeAspect="1"/>
          </p:cNvPicPr>
          <p:nvPr>
            <p:ph idx="1"/>
          </p:nvPr>
        </p:nvPicPr>
        <p:blipFill>
          <a:blip r:embed="rId2"/>
          <a:stretch>
            <a:fillRect/>
          </a:stretch>
        </p:blipFill>
        <p:spPr>
          <a:xfrm>
            <a:off x="5330647" y="333830"/>
            <a:ext cx="5928344" cy="3408797"/>
          </a:xfrm>
          <a:prstGeom prst="rect">
            <a:avLst/>
          </a:prstGeom>
          <a:noFill/>
        </p:spPr>
      </p:pic>
      <p:sp>
        <p:nvSpPr>
          <p:cNvPr id="12" name="Text Placeholder 3">
            <a:extLst>
              <a:ext uri="{FF2B5EF4-FFF2-40B4-BE49-F238E27FC236}">
                <a16:creationId xmlns:a16="http://schemas.microsoft.com/office/drawing/2014/main" id="{48F050BF-030C-DC56-9984-72E234325042}"/>
              </a:ext>
            </a:extLst>
          </p:cNvPr>
          <p:cNvSpPr>
            <a:spLocks noGrp="1"/>
          </p:cNvSpPr>
          <p:nvPr>
            <p:ph type="body" sz="half" idx="2"/>
          </p:nvPr>
        </p:nvSpPr>
        <p:spPr>
          <a:xfrm>
            <a:off x="319315" y="1523239"/>
            <a:ext cx="4034972" cy="5134235"/>
          </a:xfrm>
        </p:spPr>
        <p:txBody>
          <a:bodyPr>
            <a:normAutofit fontScale="92500" lnSpcReduction="10000"/>
          </a:bodyPr>
          <a:lstStyle/>
          <a:p>
            <a:pPr marL="285750" indent="-285750">
              <a:buFont typeface="Arial" panose="020B0604020202020204" pitchFamily="34" charset="0"/>
              <a:buChar char="•"/>
            </a:pPr>
            <a:r>
              <a:rPr lang="en-US" dirty="0"/>
              <a:t>Residuals vs fitted – the red smooth line shows slight curvature, meaning the model doesn’t fully capture the relationships. This indicates possible non-linearity or confounding.</a:t>
            </a:r>
          </a:p>
          <a:p>
            <a:pPr marL="285750" indent="-285750">
              <a:buFont typeface="Arial" panose="020B0604020202020204" pitchFamily="34" charset="0"/>
              <a:buChar char="•"/>
            </a:pPr>
            <a:r>
              <a:rPr lang="en-US" dirty="0"/>
              <a:t>Q-Q plot – residuals deviate from the diagonal at the tails, suggesting the errors are not perfectly normally distributed.</a:t>
            </a:r>
          </a:p>
          <a:p>
            <a:pPr marL="285750" indent="-285750">
              <a:buFont typeface="Arial" panose="020B0604020202020204" pitchFamily="34" charset="0"/>
              <a:buChar char="•"/>
            </a:pPr>
            <a:r>
              <a:rPr lang="en-US" dirty="0"/>
              <a:t>Scale- location plot – spread of the residuals increases with fitted values, showing heteroscedasticity (unequal variance).</a:t>
            </a:r>
          </a:p>
          <a:p>
            <a:pPr marL="285750" indent="-285750">
              <a:buFont typeface="Arial" panose="020B0604020202020204" pitchFamily="34" charset="0"/>
              <a:buChar char="•"/>
            </a:pPr>
            <a:r>
              <a:rPr lang="en-US" dirty="0"/>
              <a:t>Residuals vs leverage – a few points have higher leverage, meaning certain observations may unduly influence the model.</a:t>
            </a:r>
          </a:p>
          <a:p>
            <a:pPr marL="285750" indent="-285750">
              <a:buFont typeface="Arial" panose="020B0604020202020204" pitchFamily="34" charset="0"/>
              <a:buChar char="•"/>
            </a:pPr>
            <a:endParaRPr lang="en-US" dirty="0"/>
          </a:p>
        </p:txBody>
      </p:sp>
      <p:sp>
        <p:nvSpPr>
          <p:cNvPr id="3" name="TextBox 2">
            <a:extLst>
              <a:ext uri="{FF2B5EF4-FFF2-40B4-BE49-F238E27FC236}">
                <a16:creationId xmlns:a16="http://schemas.microsoft.com/office/drawing/2014/main" id="{D3929E87-0236-6A13-CB5E-84E78D793CAA}"/>
              </a:ext>
            </a:extLst>
          </p:cNvPr>
          <p:cNvSpPr txBox="1"/>
          <p:nvPr/>
        </p:nvSpPr>
        <p:spPr>
          <a:xfrm>
            <a:off x="5214938" y="4114800"/>
            <a:ext cx="5928344" cy="1754326"/>
          </a:xfrm>
          <a:prstGeom prst="rect">
            <a:avLst/>
          </a:prstGeom>
          <a:noFill/>
        </p:spPr>
        <p:txBody>
          <a:bodyPr wrap="square" rtlCol="0">
            <a:spAutoFit/>
          </a:bodyPr>
          <a:lstStyle/>
          <a:p>
            <a:r>
              <a:rPr lang="en-GB" dirty="0"/>
              <a:t>variables like </a:t>
            </a:r>
            <a:r>
              <a:rPr lang="en-GB" dirty="0" err="1"/>
              <a:t>FinLit</a:t>
            </a:r>
            <a:r>
              <a:rPr lang="en-GB" dirty="0"/>
              <a:t>, </a:t>
            </a:r>
            <a:r>
              <a:rPr lang="en-GB" dirty="0" err="1"/>
              <a:t>StudyHrs</a:t>
            </a:r>
            <a:r>
              <a:rPr lang="en-GB" dirty="0"/>
              <a:t>, and Outings were correlated, creating confounding and multicollinearity.</a:t>
            </a:r>
          </a:p>
          <a:p>
            <a:r>
              <a:rPr lang="en-GB" dirty="0"/>
              <a:t>So, what we found to be hard was that these correlated variables made it harder for a regression model to isolate the exact effect of a single variable on student spending. </a:t>
            </a:r>
          </a:p>
          <a:p>
            <a:endParaRPr lang="en-US" dirty="0"/>
          </a:p>
        </p:txBody>
      </p:sp>
    </p:spTree>
    <p:extLst>
      <p:ext uri="{BB962C8B-B14F-4D97-AF65-F5344CB8AC3E}">
        <p14:creationId xmlns:p14="http://schemas.microsoft.com/office/powerpoint/2010/main" val="1715122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5D964-6085-BC5A-AFB3-FEDCE0063953}"/>
              </a:ext>
            </a:extLst>
          </p:cNvPr>
          <p:cNvSpPr>
            <a:spLocks noGrp="1"/>
          </p:cNvSpPr>
          <p:nvPr>
            <p:ph type="title"/>
          </p:nvPr>
        </p:nvSpPr>
        <p:spPr/>
        <p:txBody>
          <a:bodyPr/>
          <a:lstStyle/>
          <a:p>
            <a:r>
              <a:rPr lang="en-ZA" dirty="0" err="1"/>
              <a:t>Experimentalization</a:t>
            </a:r>
            <a:r>
              <a:rPr lang="en-ZA" dirty="0"/>
              <a:t> process &amp; orthogonality</a:t>
            </a:r>
          </a:p>
        </p:txBody>
      </p:sp>
      <p:sp>
        <p:nvSpPr>
          <p:cNvPr id="7" name="Content Placeholder 4">
            <a:extLst>
              <a:ext uri="{FF2B5EF4-FFF2-40B4-BE49-F238E27FC236}">
                <a16:creationId xmlns:a16="http://schemas.microsoft.com/office/drawing/2014/main" id="{3C3F616A-3EAC-09FD-9A1A-31243BE6796E}"/>
              </a:ext>
            </a:extLst>
          </p:cNvPr>
          <p:cNvSpPr>
            <a:spLocks noGrp="1"/>
          </p:cNvSpPr>
          <p:nvPr>
            <p:ph idx="1"/>
          </p:nvPr>
        </p:nvSpPr>
        <p:spPr>
          <a:xfrm>
            <a:off x="395784" y="2108201"/>
            <a:ext cx="11532359" cy="4197065"/>
          </a:xfrm>
        </p:spPr>
        <p:txBody>
          <a:bodyPr>
            <a:normAutofit fontScale="47500" lnSpcReduction="20000"/>
          </a:bodyPr>
          <a:lstStyle/>
          <a:p>
            <a:r>
              <a:rPr lang="en-GB" sz="3200" dirty="0"/>
              <a:t>Here is where we moved from the messy, correlated observational data to a structured balanced design where every variable is independent of the others. We started by using </a:t>
            </a:r>
            <a:r>
              <a:rPr lang="en-GB" sz="3200" dirty="0" err="1"/>
              <a:t>expand.grid</a:t>
            </a:r>
            <a:r>
              <a:rPr lang="en-GB" sz="3200" dirty="0"/>
              <a:t> and rep to ensure every possible combination of variables has an equal number of students. This achieves orthogonality, meaning our predictors are no longer correlated. We then converted continuous predictors into categorical to create a balanced, orthogonal X matrix.</a:t>
            </a:r>
          </a:p>
          <a:p>
            <a:pPr>
              <a:buFont typeface="Arial" panose="020B0604020202020204" pitchFamily="34" charset="0"/>
              <a:buChar char="•"/>
            </a:pPr>
            <a:r>
              <a:rPr lang="en-GB" sz="3200" dirty="0"/>
              <a:t>Creation of the balanced grid: Using the </a:t>
            </a:r>
            <a:r>
              <a:rPr lang="en-GB" sz="3200" dirty="0" err="1"/>
              <a:t>expand.grid</a:t>
            </a:r>
            <a:r>
              <a:rPr lang="en-GB" sz="3200" dirty="0"/>
              <a:t> function, we generated every possible combination of our 6 factors: Funding (2) *</a:t>
            </a:r>
            <a:r>
              <a:rPr lang="en-GB" sz="3200" dirty="0" err="1"/>
              <a:t>Acc</a:t>
            </a:r>
            <a:r>
              <a:rPr lang="en-GB" sz="3200" dirty="0"/>
              <a:t> (3) * Distance (2) * </a:t>
            </a:r>
            <a:r>
              <a:rPr lang="en-GB" sz="3200" dirty="0" err="1"/>
              <a:t>FinLit</a:t>
            </a:r>
            <a:r>
              <a:rPr lang="en-GB" sz="3200" dirty="0"/>
              <a:t> (3) * </a:t>
            </a:r>
            <a:r>
              <a:rPr lang="en-GB" sz="3200" dirty="0" err="1"/>
              <a:t>StudyHrs</a:t>
            </a:r>
            <a:r>
              <a:rPr lang="en-GB" sz="3200" dirty="0"/>
              <a:t> (3) * Outings (3)</a:t>
            </a:r>
          </a:p>
          <a:p>
            <a:pPr>
              <a:buFont typeface="Arial" panose="020B0604020202020204" pitchFamily="34" charset="0"/>
              <a:buChar char="•"/>
            </a:pPr>
            <a:r>
              <a:rPr lang="en-GB" sz="3200" dirty="0"/>
              <a:t>Cell size and sample size: total unique cells =324. We then replicated each cell 15 times (each = 15) to reach a total N=4860 observations. This ensures 15 observations per interaction cell, providing enough power to estimate effects without bias. This means a student's Distance is now completely independent of their Accommodation type or Funding.</a:t>
            </a:r>
          </a:p>
          <a:p>
            <a:pPr>
              <a:buFont typeface="Arial" panose="020B0604020202020204" pitchFamily="34" charset="0"/>
              <a:buChar char="•"/>
            </a:pPr>
            <a:r>
              <a:rPr lang="en-GB" sz="3200" dirty="0"/>
              <a:t>Impact on Variance: by controlling the X matrix, we minimize the variance of our coefficient estimates, allowing for much more efficient "recovery" of the true model parameters compared to the observational data.</a:t>
            </a:r>
          </a:p>
          <a:p>
            <a:pPr marL="0" indent="0">
              <a:buNone/>
            </a:pPr>
            <a:r>
              <a:rPr lang="en-GB" sz="3200" dirty="0"/>
              <a:t>In summary – The </a:t>
            </a:r>
            <a:r>
              <a:rPr lang="en-GB" sz="3200" dirty="0" err="1"/>
              <a:t>experimentalisation</a:t>
            </a:r>
            <a:r>
              <a:rPr lang="en-GB" sz="3200" dirty="0"/>
              <a:t> process was executed using </a:t>
            </a:r>
            <a:r>
              <a:rPr lang="en-GB" sz="3200" dirty="0" err="1"/>
              <a:t>expand.grid</a:t>
            </a:r>
            <a:r>
              <a:rPr lang="en-GB" sz="3200" dirty="0"/>
              <a:t> to create a 324-cell balanced design, ensuring orthogonality across all predictors. By discretizing continuous variables into categorical tertiles and replicating each cell 15 times (N=4860), we ensured a diagonal 𝑋^𝑇 𝑋 matrix. This design eliminates the confounding found in the observational data. </a:t>
            </a:r>
          </a:p>
          <a:p>
            <a:endParaRPr lang="en-ZA" dirty="0"/>
          </a:p>
        </p:txBody>
      </p:sp>
    </p:spTree>
    <p:extLst>
      <p:ext uri="{BB962C8B-B14F-4D97-AF65-F5344CB8AC3E}">
        <p14:creationId xmlns:p14="http://schemas.microsoft.com/office/powerpoint/2010/main" val="3358718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5C991-7F0B-6148-A3F0-28F460C85C08}"/>
              </a:ext>
            </a:extLst>
          </p:cNvPr>
          <p:cNvSpPr>
            <a:spLocks noGrp="1"/>
          </p:cNvSpPr>
          <p:nvPr>
            <p:ph type="title"/>
          </p:nvPr>
        </p:nvSpPr>
        <p:spPr>
          <a:xfrm>
            <a:off x="341220" y="365469"/>
            <a:ext cx="4122056" cy="2093975"/>
          </a:xfrm>
        </p:spPr>
        <p:txBody>
          <a:bodyPr anchor="b">
            <a:normAutofit/>
          </a:bodyPr>
          <a:lstStyle/>
          <a:p>
            <a:r>
              <a:rPr lang="en-ZA" dirty="0"/>
              <a:t>Naïve experimental model &amp; diagnostics</a:t>
            </a:r>
          </a:p>
        </p:txBody>
      </p:sp>
      <p:pic>
        <p:nvPicPr>
          <p:cNvPr id="6" name="Content Placeholder 5">
            <a:extLst>
              <a:ext uri="{FF2B5EF4-FFF2-40B4-BE49-F238E27FC236}">
                <a16:creationId xmlns:a16="http://schemas.microsoft.com/office/drawing/2014/main" id="{01285F27-A03C-DF00-9D24-41D2F94523E2}"/>
              </a:ext>
            </a:extLst>
          </p:cNvPr>
          <p:cNvPicPr>
            <a:picLocks noGrp="1" noChangeAspect="1"/>
          </p:cNvPicPr>
          <p:nvPr>
            <p:ph idx="1"/>
          </p:nvPr>
        </p:nvPicPr>
        <p:blipFill>
          <a:blip r:embed="rId2"/>
          <a:stretch>
            <a:fillRect/>
          </a:stretch>
        </p:blipFill>
        <p:spPr>
          <a:xfrm>
            <a:off x="4834883" y="134456"/>
            <a:ext cx="3537718" cy="2556000"/>
          </a:xfrm>
          <a:prstGeom prst="rect">
            <a:avLst/>
          </a:prstGeom>
          <a:noFill/>
        </p:spPr>
      </p:pic>
      <p:sp>
        <p:nvSpPr>
          <p:cNvPr id="13" name="Text Placeholder 3">
            <a:extLst>
              <a:ext uri="{FF2B5EF4-FFF2-40B4-BE49-F238E27FC236}">
                <a16:creationId xmlns:a16="http://schemas.microsoft.com/office/drawing/2014/main" id="{FF696561-A08D-4063-2BB9-7185D2F7AE60}"/>
              </a:ext>
            </a:extLst>
          </p:cNvPr>
          <p:cNvSpPr>
            <a:spLocks noGrp="1"/>
          </p:cNvSpPr>
          <p:nvPr>
            <p:ph type="body" sz="half" idx="2"/>
          </p:nvPr>
        </p:nvSpPr>
        <p:spPr>
          <a:xfrm>
            <a:off x="341221" y="2459444"/>
            <a:ext cx="4122056" cy="4033087"/>
          </a:xfrm>
        </p:spPr>
        <p:txBody>
          <a:bodyPr/>
          <a:lstStyle/>
          <a:p>
            <a:endParaRPr lang="en-US" dirty="0"/>
          </a:p>
        </p:txBody>
      </p:sp>
      <p:pic>
        <p:nvPicPr>
          <p:cNvPr id="4" name="Picture 3">
            <a:extLst>
              <a:ext uri="{FF2B5EF4-FFF2-40B4-BE49-F238E27FC236}">
                <a16:creationId xmlns:a16="http://schemas.microsoft.com/office/drawing/2014/main" id="{62F43619-B3ED-E163-01A2-607E56BB9863}"/>
              </a:ext>
            </a:extLst>
          </p:cNvPr>
          <p:cNvPicPr>
            <a:picLocks noChangeAspect="1"/>
          </p:cNvPicPr>
          <p:nvPr/>
        </p:nvPicPr>
        <p:blipFill>
          <a:blip r:embed="rId3"/>
          <a:stretch>
            <a:fillRect/>
          </a:stretch>
        </p:blipFill>
        <p:spPr>
          <a:xfrm>
            <a:off x="4956763" y="2835544"/>
            <a:ext cx="4926906" cy="3888000"/>
          </a:xfrm>
          <a:prstGeom prst="rect">
            <a:avLst/>
          </a:prstGeom>
        </p:spPr>
      </p:pic>
    </p:spTree>
    <p:extLst>
      <p:ext uri="{BB962C8B-B14F-4D97-AF65-F5344CB8AC3E}">
        <p14:creationId xmlns:p14="http://schemas.microsoft.com/office/powerpoint/2010/main" val="3185124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93C00-A579-9177-A104-C146A12CC367}"/>
              </a:ext>
            </a:extLst>
          </p:cNvPr>
          <p:cNvSpPr>
            <a:spLocks noGrp="1"/>
          </p:cNvSpPr>
          <p:nvPr>
            <p:ph type="title"/>
          </p:nvPr>
        </p:nvSpPr>
        <p:spPr>
          <a:xfrm>
            <a:off x="622750" y="216358"/>
            <a:ext cx="3517567" cy="2093975"/>
          </a:xfrm>
        </p:spPr>
        <p:txBody>
          <a:bodyPr anchor="b">
            <a:normAutofit/>
          </a:bodyPr>
          <a:lstStyle/>
          <a:p>
            <a:r>
              <a:rPr lang="en-ZA" dirty="0"/>
              <a:t>Observational vs experimental distributions</a:t>
            </a:r>
          </a:p>
        </p:txBody>
      </p:sp>
      <p:pic>
        <p:nvPicPr>
          <p:cNvPr id="8" name="Content Placeholder 7">
            <a:extLst>
              <a:ext uri="{FF2B5EF4-FFF2-40B4-BE49-F238E27FC236}">
                <a16:creationId xmlns:a16="http://schemas.microsoft.com/office/drawing/2014/main" id="{0EF5526F-B04A-D96F-269E-EEF2560141F2}"/>
              </a:ext>
            </a:extLst>
          </p:cNvPr>
          <p:cNvPicPr>
            <a:picLocks noGrp="1" noChangeAspect="1"/>
          </p:cNvPicPr>
          <p:nvPr>
            <p:ph idx="1"/>
          </p:nvPr>
        </p:nvPicPr>
        <p:blipFill>
          <a:blip r:embed="rId2"/>
          <a:stretch>
            <a:fillRect/>
          </a:stretch>
        </p:blipFill>
        <p:spPr>
          <a:xfrm>
            <a:off x="4721048" y="358"/>
            <a:ext cx="4042117" cy="2880000"/>
          </a:xfrm>
          <a:prstGeom prst="rect">
            <a:avLst/>
          </a:prstGeom>
          <a:noFill/>
        </p:spPr>
      </p:pic>
      <p:sp>
        <p:nvSpPr>
          <p:cNvPr id="13" name="Text Placeholder 3">
            <a:extLst>
              <a:ext uri="{FF2B5EF4-FFF2-40B4-BE49-F238E27FC236}">
                <a16:creationId xmlns:a16="http://schemas.microsoft.com/office/drawing/2014/main" id="{068B1BD2-39FB-9FA9-251F-12EF1CC7094A}"/>
              </a:ext>
            </a:extLst>
          </p:cNvPr>
          <p:cNvSpPr>
            <a:spLocks noGrp="1"/>
          </p:cNvSpPr>
          <p:nvPr>
            <p:ph type="body" sz="half" idx="2"/>
          </p:nvPr>
        </p:nvSpPr>
        <p:spPr>
          <a:xfrm>
            <a:off x="423079" y="2390655"/>
            <a:ext cx="3916907" cy="4314025"/>
          </a:xfrm>
        </p:spPr>
        <p:txBody>
          <a:bodyPr>
            <a:normAutofit/>
          </a:bodyPr>
          <a:lstStyle/>
          <a:p>
            <a:r>
              <a:rPr lang="en-US" sz="1600" dirty="0"/>
              <a:t>We are comparing spending distributions.</a:t>
            </a:r>
          </a:p>
          <a:p>
            <a:pPr marL="285750" indent="-285750">
              <a:buFont typeface="Arial" panose="020B0604020202020204" pitchFamily="34" charset="0"/>
              <a:buChar char="•"/>
            </a:pPr>
            <a:r>
              <a:rPr lang="en-US" sz="1600" dirty="0"/>
              <a:t>The Q-Q plots show deviations from normality.</a:t>
            </a:r>
          </a:p>
          <a:p>
            <a:pPr marL="285750" indent="-285750">
              <a:buFont typeface="Arial" panose="020B0604020202020204" pitchFamily="34" charset="0"/>
              <a:buChar char="•"/>
            </a:pPr>
            <a:r>
              <a:rPr lang="en-US" sz="1600" dirty="0"/>
              <a:t>The observational histogram shows more variability , reflecting confounding &amp; real-world noise. Experimental histogram is more structured because of balance and orthogonality.</a:t>
            </a:r>
          </a:p>
          <a:p>
            <a:pPr marL="285750" indent="-285750">
              <a:buFont typeface="Arial" panose="020B0604020202020204" pitchFamily="34" charset="0"/>
              <a:buChar char="•"/>
            </a:pPr>
            <a:r>
              <a:rPr lang="en-US" sz="1600" dirty="0"/>
              <a:t>Superimposed histogram shows overlap in ranges, confirming that both datasets reflect realistic student spending.</a:t>
            </a:r>
          </a:p>
          <a:p>
            <a:pPr marL="285750" indent="-285750">
              <a:buFont typeface="Arial" panose="020B0604020202020204" pitchFamily="34" charset="0"/>
              <a:buChar char="•"/>
            </a:pPr>
            <a:endParaRPr lang="en-US" sz="1500" dirty="0"/>
          </a:p>
          <a:p>
            <a:pPr marL="285750" indent="-285750">
              <a:buFont typeface="Arial" panose="020B0604020202020204" pitchFamily="34" charset="0"/>
              <a:buChar char="•"/>
            </a:pPr>
            <a:endParaRPr lang="en-US" dirty="0"/>
          </a:p>
        </p:txBody>
      </p:sp>
      <p:pic>
        <p:nvPicPr>
          <p:cNvPr id="10" name="Picture 9">
            <a:extLst>
              <a:ext uri="{FF2B5EF4-FFF2-40B4-BE49-F238E27FC236}">
                <a16:creationId xmlns:a16="http://schemas.microsoft.com/office/drawing/2014/main" id="{46FC8EDD-91B0-383E-6C13-6F3E2E92BDEC}"/>
              </a:ext>
            </a:extLst>
          </p:cNvPr>
          <p:cNvPicPr>
            <a:picLocks noChangeAspect="1"/>
          </p:cNvPicPr>
          <p:nvPr/>
        </p:nvPicPr>
        <p:blipFill>
          <a:blip r:embed="rId3"/>
          <a:stretch>
            <a:fillRect/>
          </a:stretch>
        </p:blipFill>
        <p:spPr>
          <a:xfrm>
            <a:off x="8715709" y="216358"/>
            <a:ext cx="3476291" cy="2448000"/>
          </a:xfrm>
          <a:prstGeom prst="rect">
            <a:avLst/>
          </a:prstGeom>
        </p:spPr>
      </p:pic>
      <p:pic>
        <p:nvPicPr>
          <p:cNvPr id="12" name="Picture 11">
            <a:extLst>
              <a:ext uri="{FF2B5EF4-FFF2-40B4-BE49-F238E27FC236}">
                <a16:creationId xmlns:a16="http://schemas.microsoft.com/office/drawing/2014/main" id="{F9F50D02-9566-18D2-6697-A9AFA999F17C}"/>
              </a:ext>
            </a:extLst>
          </p:cNvPr>
          <p:cNvPicPr>
            <a:picLocks noChangeAspect="1"/>
          </p:cNvPicPr>
          <p:nvPr/>
        </p:nvPicPr>
        <p:blipFill>
          <a:blip r:embed="rId4"/>
          <a:stretch>
            <a:fillRect/>
          </a:stretch>
        </p:blipFill>
        <p:spPr>
          <a:xfrm>
            <a:off x="5691212" y="2897642"/>
            <a:ext cx="5710916" cy="3960000"/>
          </a:xfrm>
          <a:prstGeom prst="rect">
            <a:avLst/>
          </a:prstGeom>
        </p:spPr>
      </p:pic>
    </p:spTree>
    <p:extLst>
      <p:ext uri="{BB962C8B-B14F-4D97-AF65-F5344CB8AC3E}">
        <p14:creationId xmlns:p14="http://schemas.microsoft.com/office/powerpoint/2010/main" val="3019248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E0FBC-87A0-F8A3-FD08-CAE588608C27}"/>
              </a:ext>
            </a:extLst>
          </p:cNvPr>
          <p:cNvSpPr>
            <a:spLocks noGrp="1"/>
          </p:cNvSpPr>
          <p:nvPr>
            <p:ph type="title"/>
          </p:nvPr>
        </p:nvSpPr>
        <p:spPr>
          <a:xfrm>
            <a:off x="324795" y="300365"/>
            <a:ext cx="4154906" cy="1083642"/>
          </a:xfrm>
        </p:spPr>
        <p:txBody>
          <a:bodyPr anchor="b">
            <a:normAutofit/>
          </a:bodyPr>
          <a:lstStyle/>
          <a:p>
            <a:r>
              <a:rPr lang="en-ZA" dirty="0"/>
              <a:t>True vs estimated model</a:t>
            </a:r>
          </a:p>
        </p:txBody>
      </p:sp>
      <p:pic>
        <p:nvPicPr>
          <p:cNvPr id="6" name="Content Placeholder 5">
            <a:extLst>
              <a:ext uri="{FF2B5EF4-FFF2-40B4-BE49-F238E27FC236}">
                <a16:creationId xmlns:a16="http://schemas.microsoft.com/office/drawing/2014/main" id="{875C85A3-A1F6-A57C-222F-235A059EDB15}"/>
              </a:ext>
            </a:extLst>
          </p:cNvPr>
          <p:cNvPicPr>
            <a:picLocks noGrp="1" noChangeAspect="1"/>
          </p:cNvPicPr>
          <p:nvPr>
            <p:ph idx="1"/>
          </p:nvPr>
        </p:nvPicPr>
        <p:blipFill>
          <a:blip r:embed="rId2"/>
          <a:stretch>
            <a:fillRect/>
          </a:stretch>
        </p:blipFill>
        <p:spPr>
          <a:xfrm>
            <a:off x="5154184" y="300365"/>
            <a:ext cx="5928344" cy="4152341"/>
          </a:xfrm>
          <a:prstGeom prst="rect">
            <a:avLst/>
          </a:prstGeom>
          <a:noFill/>
        </p:spPr>
      </p:pic>
      <p:sp>
        <p:nvSpPr>
          <p:cNvPr id="5" name="Text Placeholder 3">
            <a:extLst>
              <a:ext uri="{FF2B5EF4-FFF2-40B4-BE49-F238E27FC236}">
                <a16:creationId xmlns:a16="http://schemas.microsoft.com/office/drawing/2014/main" id="{1350663F-BFB3-C67F-C7E5-0751ADC3E566}"/>
              </a:ext>
            </a:extLst>
          </p:cNvPr>
          <p:cNvSpPr>
            <a:spLocks noGrp="1"/>
          </p:cNvSpPr>
          <p:nvPr>
            <p:ph type="body" sz="half" idx="2"/>
          </p:nvPr>
        </p:nvSpPr>
        <p:spPr>
          <a:xfrm>
            <a:off x="324795" y="1384007"/>
            <a:ext cx="4154906" cy="5173627"/>
          </a:xfrm>
        </p:spPr>
        <p:txBody>
          <a:bodyPr/>
          <a:lstStyle/>
          <a:p>
            <a:pPr marL="285750" indent="-285750">
              <a:buFont typeface="Arial" panose="020B0604020202020204" pitchFamily="34" charset="0"/>
              <a:buChar char="•"/>
            </a:pPr>
            <a:r>
              <a:rPr lang="en-US" dirty="0"/>
              <a:t>The table compares true model coefficients with the experimental model coefficients.</a:t>
            </a:r>
          </a:p>
          <a:p>
            <a:pPr marL="285750" indent="-285750">
              <a:buFont typeface="Arial" panose="020B0604020202020204" pitchFamily="34" charset="0"/>
              <a:buChar char="•"/>
            </a:pPr>
            <a:r>
              <a:rPr lang="en-US" dirty="0"/>
              <a:t>The estimates of the main drivers of spending are very close to the true value, with only a small bias. This shows that </a:t>
            </a:r>
            <a:r>
              <a:rPr lang="en-US" dirty="0" err="1"/>
              <a:t>experimentalisation</a:t>
            </a:r>
            <a:r>
              <a:rPr lang="en-US" dirty="0"/>
              <a:t> recovers the true effects reliably.</a:t>
            </a:r>
          </a:p>
          <a:p>
            <a:pPr marL="285750" indent="-285750">
              <a:buFont typeface="Arial" panose="020B0604020202020204" pitchFamily="34" charset="0"/>
              <a:buChar char="•"/>
            </a:pPr>
            <a:r>
              <a:rPr lang="en-US" dirty="0"/>
              <a:t>By balancing and orthogonalizing the design, we separate genuine effects from noise, showing that experimental regression clarifies inference in a way observational data cannot.</a:t>
            </a:r>
          </a:p>
        </p:txBody>
      </p:sp>
    </p:spTree>
    <p:extLst>
      <p:ext uri="{BB962C8B-B14F-4D97-AF65-F5344CB8AC3E}">
        <p14:creationId xmlns:p14="http://schemas.microsoft.com/office/powerpoint/2010/main" val="1425957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7FAB7-CF7B-0D5B-78F0-3F8DE459FDC0}"/>
              </a:ext>
            </a:extLst>
          </p:cNvPr>
          <p:cNvSpPr>
            <a:spLocks noGrp="1"/>
          </p:cNvSpPr>
          <p:nvPr>
            <p:ph type="title"/>
          </p:nvPr>
        </p:nvSpPr>
        <p:spPr>
          <a:xfrm>
            <a:off x="515129" y="248729"/>
            <a:ext cx="3976660" cy="1003432"/>
          </a:xfrm>
        </p:spPr>
        <p:txBody>
          <a:bodyPr anchor="b">
            <a:normAutofit/>
          </a:bodyPr>
          <a:lstStyle/>
          <a:p>
            <a:r>
              <a:rPr lang="en-ZA" sz="2800" dirty="0"/>
              <a:t>Reflection on </a:t>
            </a:r>
            <a:r>
              <a:rPr lang="en-ZA" sz="2800" dirty="0" err="1"/>
              <a:t>experimentalisation</a:t>
            </a:r>
            <a:endParaRPr lang="en-ZA" sz="2800" dirty="0"/>
          </a:p>
        </p:txBody>
      </p:sp>
      <p:pic>
        <p:nvPicPr>
          <p:cNvPr id="6" name="Content Placeholder 5">
            <a:extLst>
              <a:ext uri="{FF2B5EF4-FFF2-40B4-BE49-F238E27FC236}">
                <a16:creationId xmlns:a16="http://schemas.microsoft.com/office/drawing/2014/main" id="{9E46A427-8F0B-BC0C-B747-C86E5810B629}"/>
              </a:ext>
            </a:extLst>
          </p:cNvPr>
          <p:cNvPicPr>
            <a:picLocks noGrp="1" noChangeAspect="1"/>
          </p:cNvPicPr>
          <p:nvPr>
            <p:ph idx="1"/>
          </p:nvPr>
        </p:nvPicPr>
        <p:blipFill>
          <a:blip r:embed="rId2"/>
          <a:stretch>
            <a:fillRect/>
          </a:stretch>
        </p:blipFill>
        <p:spPr>
          <a:xfrm>
            <a:off x="5066797" y="347813"/>
            <a:ext cx="5928344" cy="2246286"/>
          </a:xfrm>
          <a:prstGeom prst="rect">
            <a:avLst/>
          </a:prstGeom>
          <a:noFill/>
        </p:spPr>
      </p:pic>
      <mc:AlternateContent xmlns:mc="http://schemas.openxmlformats.org/markup-compatibility/2006" xmlns:a14="http://schemas.microsoft.com/office/drawing/2010/main">
        <mc:Choice Requires="a14">
          <p:sp>
            <p:nvSpPr>
              <p:cNvPr id="11" name="Text Placeholder 3">
                <a:extLst>
                  <a:ext uri="{FF2B5EF4-FFF2-40B4-BE49-F238E27FC236}">
                    <a16:creationId xmlns:a16="http://schemas.microsoft.com/office/drawing/2014/main" id="{723A8A9E-5EB4-B35B-CD08-DA745E04D803}"/>
                  </a:ext>
                </a:extLst>
              </p:cNvPr>
              <p:cNvSpPr>
                <a:spLocks noGrp="1"/>
              </p:cNvSpPr>
              <p:nvPr>
                <p:ph type="body" sz="half" idx="2"/>
              </p:nvPr>
            </p:nvSpPr>
            <p:spPr>
              <a:xfrm>
                <a:off x="368968" y="1379621"/>
                <a:ext cx="3976659" cy="5229649"/>
              </a:xfrm>
            </p:spPr>
            <p:txBody>
              <a:bodyPr/>
              <a:lstStyle/>
              <a:p>
                <a:pPr marL="285750" indent="-285750">
                  <a:buFont typeface="Arial" panose="020B0604020202020204" pitchFamily="34" charset="0"/>
                  <a:buChar char="•"/>
                </a:pPr>
                <a14:m>
                  <m:oMath xmlns:m="http://schemas.openxmlformats.org/officeDocument/2006/math">
                    <m:sSup>
                      <m:sSupPr>
                        <m:ctrlPr>
                          <a:rPr lang="en-ZA" b="0" i="1" smtClean="0">
                            <a:latin typeface="Cambria Math" panose="02040503050406030204" pitchFamily="18" charset="0"/>
                          </a:rPr>
                        </m:ctrlPr>
                      </m:sSupPr>
                      <m:e>
                        <m:r>
                          <a:rPr lang="en-ZA" b="0" i="1" smtClean="0">
                            <a:latin typeface="Cambria Math" panose="02040503050406030204" pitchFamily="18" charset="0"/>
                          </a:rPr>
                          <m:t>𝑅</m:t>
                        </m:r>
                      </m:e>
                      <m:sup>
                        <m:r>
                          <a:rPr lang="en-ZA" b="0" i="1" smtClean="0">
                            <a:latin typeface="Cambria Math" panose="02040503050406030204" pitchFamily="18" charset="0"/>
                          </a:rPr>
                          <m:t>2</m:t>
                        </m:r>
                      </m:sup>
                    </m:sSup>
                  </m:oMath>
                </a14:m>
                <a:r>
                  <a:rPr lang="en-US" dirty="0"/>
                  <a:t> increased from 0.3958 (observational) to 0.5305 (experimental).</a:t>
                </a:r>
              </a:p>
              <a:p>
                <a:pPr marL="285750" indent="-285750">
                  <a:buFont typeface="Arial" panose="020B0604020202020204" pitchFamily="34" charset="0"/>
                  <a:buChar char="•"/>
                </a:pPr>
                <a:r>
                  <a:rPr lang="en-US" dirty="0"/>
                  <a:t>Adjusted </a:t>
                </a:r>
                <a14:m>
                  <m:oMath xmlns:m="http://schemas.openxmlformats.org/officeDocument/2006/math">
                    <m:sSup>
                      <m:sSupPr>
                        <m:ctrlPr>
                          <a:rPr lang="en-ZA" b="0" i="1" smtClean="0">
                            <a:latin typeface="Cambria Math" panose="02040503050406030204" pitchFamily="18" charset="0"/>
                          </a:rPr>
                        </m:ctrlPr>
                      </m:sSupPr>
                      <m:e>
                        <m:r>
                          <a:rPr lang="en-ZA" b="0" i="1" smtClean="0">
                            <a:latin typeface="Cambria Math" panose="02040503050406030204" pitchFamily="18" charset="0"/>
                          </a:rPr>
                          <m:t>𝑅</m:t>
                        </m:r>
                      </m:e>
                      <m:sup>
                        <m:r>
                          <a:rPr lang="en-ZA" b="0" i="1" smtClean="0">
                            <a:latin typeface="Cambria Math" panose="02040503050406030204" pitchFamily="18" charset="0"/>
                          </a:rPr>
                          <m:t>2</m:t>
                        </m:r>
                      </m:sup>
                    </m:sSup>
                  </m:oMath>
                </a14:m>
                <a:r>
                  <a:rPr lang="en-US" dirty="0"/>
                  <a:t> shows the same improvement, confirming stronger explanatory power.</a:t>
                </a:r>
              </a:p>
              <a:p>
                <a:pPr marL="285750" indent="-285750">
                  <a:buFont typeface="Arial" panose="020B0604020202020204" pitchFamily="34" charset="0"/>
                  <a:buChar char="•"/>
                </a:pPr>
                <a:r>
                  <a:rPr lang="en-US" dirty="0" err="1"/>
                  <a:t>Experimentalisation</a:t>
                </a:r>
                <a:r>
                  <a:rPr lang="en-US" dirty="0"/>
                  <a:t> created balance and orthogonality, removing overlaps between predictors. This eliminated spurious correlations that misled the observational model.</a:t>
                </a:r>
              </a:p>
              <a:p>
                <a:pPr marL="285750" indent="-285750">
                  <a:buFont typeface="Arial" panose="020B0604020202020204" pitchFamily="34" charset="0"/>
                  <a:buChar char="•"/>
                </a:pPr>
                <a:r>
                  <a:rPr lang="en-US" dirty="0"/>
                  <a:t>Residuals are more stable, bias across estimates is small.</a:t>
                </a:r>
              </a:p>
            </p:txBody>
          </p:sp>
        </mc:Choice>
        <mc:Fallback xmlns="">
          <p:sp>
            <p:nvSpPr>
              <p:cNvPr id="11" name="Text Placeholder 3">
                <a:extLst>
                  <a:ext uri="{FF2B5EF4-FFF2-40B4-BE49-F238E27FC236}">
                    <a16:creationId xmlns:a16="http://schemas.microsoft.com/office/drawing/2014/main" id="{723A8A9E-5EB4-B35B-CD08-DA745E04D803}"/>
                  </a:ext>
                </a:extLst>
              </p:cNvPr>
              <p:cNvSpPr>
                <a:spLocks noGrp="1" noRot="1" noChangeAspect="1" noMove="1" noResize="1" noEditPoints="1" noAdjustHandles="1" noChangeArrowheads="1" noChangeShapeType="1" noTextEdit="1"/>
              </p:cNvSpPr>
              <p:nvPr>
                <p:ph type="body" sz="half" idx="2"/>
              </p:nvPr>
            </p:nvSpPr>
            <p:spPr>
              <a:xfrm>
                <a:off x="368968" y="1379621"/>
                <a:ext cx="3976659" cy="5229649"/>
              </a:xfrm>
              <a:blipFill>
                <a:blip r:embed="rId3"/>
                <a:stretch>
                  <a:fillRect l="-1074" t="-466" r="-2147"/>
                </a:stretch>
              </a:blipFill>
            </p:spPr>
            <p:txBody>
              <a:bodyPr/>
              <a:lstStyle/>
              <a:p>
                <a:r>
                  <a:rPr lang="en-ZA">
                    <a:noFill/>
                  </a:rPr>
                  <a:t> </a:t>
                </a:r>
              </a:p>
            </p:txBody>
          </p:sp>
        </mc:Fallback>
      </mc:AlternateContent>
      <p:sp>
        <p:nvSpPr>
          <p:cNvPr id="3" name="TextBox 2">
            <a:extLst>
              <a:ext uri="{FF2B5EF4-FFF2-40B4-BE49-F238E27FC236}">
                <a16:creationId xmlns:a16="http://schemas.microsoft.com/office/drawing/2014/main" id="{E32181FC-135B-B286-A4DE-F0D4A239E19D}"/>
              </a:ext>
            </a:extLst>
          </p:cNvPr>
          <p:cNvSpPr txBox="1"/>
          <p:nvPr/>
        </p:nvSpPr>
        <p:spPr>
          <a:xfrm>
            <a:off x="5066797" y="2947916"/>
            <a:ext cx="695688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ZA" sz="1600" b="0" i="0" u="none" strike="noStrike" kern="1200" cap="none" spc="0" normalizeH="0" baseline="0" noProof="0" dirty="0" err="1">
                <a:ln>
                  <a:noFill/>
                </a:ln>
                <a:solidFill>
                  <a:prstClr val="black"/>
                </a:solidFill>
                <a:effectLst/>
                <a:uLnTx/>
                <a:uFillTx/>
                <a:latin typeface="Franklin Gothic Book" panose="020F0502020204030204"/>
                <a:ea typeface="+mn-ea"/>
                <a:cs typeface="+mn-cs"/>
              </a:rPr>
              <a:t>Experimentalisation</a:t>
            </a:r>
            <a:r>
              <a:rPr kumimoji="0" lang="en-ZA" sz="1600" b="0" i="0" u="none" strike="noStrike" kern="1200" cap="none" spc="0" normalizeH="0" baseline="0" noProof="0" dirty="0">
                <a:ln>
                  <a:noFill/>
                </a:ln>
                <a:solidFill>
                  <a:prstClr val="black"/>
                </a:solidFill>
                <a:effectLst/>
                <a:uLnTx/>
                <a:uFillTx/>
                <a:latin typeface="Franklin Gothic Book" panose="020F0502020204030204"/>
                <a:ea typeface="+mn-ea"/>
                <a:cs typeface="+mn-cs"/>
              </a:rPr>
              <a:t> improved the model accuracy. By balancing and orthogonalizing the design, it separated signal from noise and produced valid inference.</a:t>
            </a:r>
          </a:p>
        </p:txBody>
      </p:sp>
    </p:spTree>
    <p:extLst>
      <p:ext uri="{BB962C8B-B14F-4D97-AF65-F5344CB8AC3E}">
        <p14:creationId xmlns:p14="http://schemas.microsoft.com/office/powerpoint/2010/main" val="655716848"/>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3.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
  <TotalTime>635</TotalTime>
  <Words>1603</Words>
  <Application>Microsoft Office PowerPoint</Application>
  <PresentationFormat>Widescreen</PresentationFormat>
  <Paragraphs>92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Bookman Old Style</vt:lpstr>
      <vt:lpstr>Calibri</vt:lpstr>
      <vt:lpstr>Cambria Math</vt:lpstr>
      <vt:lpstr>Franklin Gothic Book</vt:lpstr>
      <vt:lpstr>Wingdings</vt:lpstr>
      <vt:lpstr>Custom</vt:lpstr>
      <vt:lpstr>Group 6: Simulating and analysing data</vt:lpstr>
      <vt:lpstr>Dataset, response variable &amp; naïve model</vt:lpstr>
      <vt:lpstr>Model refinement</vt:lpstr>
      <vt:lpstr>Model refinement (interactions/transformations)</vt:lpstr>
      <vt:lpstr>Reflection on observational data</vt:lpstr>
      <vt:lpstr>Introduction </vt:lpstr>
      <vt:lpstr>Scatterplot matrix &amp; interpretation</vt:lpstr>
      <vt:lpstr>True vs estimated model</vt:lpstr>
      <vt:lpstr>Reflection on observational data</vt:lpstr>
      <vt:lpstr>Experimentalization process &amp; orthogonality</vt:lpstr>
      <vt:lpstr>Naïve experimental model &amp; diagnostics</vt:lpstr>
      <vt:lpstr>Observational vs experimental distributions</vt:lpstr>
      <vt:lpstr>True vs estimated model</vt:lpstr>
      <vt:lpstr>Reflection on experimentalisation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Fhulufhelo Mashawana</dc:creator>
  <cp:lastModifiedBy>Mlibo Majola</cp:lastModifiedBy>
  <cp:revision>7</cp:revision>
  <dcterms:created xsi:type="dcterms:W3CDTF">2026-03-03T21:14:44Z</dcterms:created>
  <dcterms:modified xsi:type="dcterms:W3CDTF">2026-03-05T19:26:10Z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